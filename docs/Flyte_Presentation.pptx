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1de45f7-72ec-8189-2a91-bba3ad9745eb}">
          <p14:sldIdLst>
            <p14:sldId id="256"/>
            <p14:sldId id="257"/>
          </p14:sldIdLst>
        </p14:section>
        <p14:section name="Product" id="{95426c21-be42-a949-e578-06faf57dde78}">
          <p14:sldIdLst>
            <p14:sldId id="258"/>
            <p14:sldId id="259"/>
            <p14:sldId id="260"/>
          </p14:sldIdLst>
        </p14:section>
        <p14:section name="How it works" id="{39818fbf-6510-d220-dff7-4fd973848681}">
          <p14:sldIdLst>
            <p14:sldId id="261"/>
            <p14:sldId id="262"/>
          </p14:sldIdLst>
        </p14:section>
        <p14:section name="Data science" id="{dd15b54e-1acf-5f9f-f367-67a4a19ac801}">
          <p14:sldIdLst>
            <p14:sldId id="263"/>
            <p14:sldId id="264"/>
          </p14:sldIdLst>
        </p14:section>
        <p14:section name="Next steps" id="{9f0b1ed3-8be0-2b3e-9183-5ca99c0363e7}">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33A"/>
                </a:solidFill>
                <a:latin typeface="+mn-lt"/>
              </a:defRPr>
            </a:pPr>
            <a:r>
              <a:rPr sz="1300" b="0" i="0" u="none" strike="noStrike">
                <a:solidFill>
                  <a:srgbClr val="16133A"/>
                </a:solidFill>
                <a:latin typeface="+mn-lt"/>
              </a:rPr>
              <a:t>Average economy fare by how far ahead people booked</a:t>
            </a:r>
          </a:p>
        </c:rich>
      </c:tx>
      <c:layout/>
      <c:overlay val="0"/>
    </c:title>
    <c:autoTitleDeleted val="0"/>
    <c:plotArea>
      <c:layout/>
      <c:barChart>
        <c:barDir val="col"/>
        <c:grouping val="clustered"/>
        <c:varyColors val="0"/>
        <c:ser>
          <c:idx val="0"/>
          <c:order val="0"/>
          <c:tx>
            <c:strRef>
              <c:f>Sheet1!$B$1</c:f>
              <c:strCache>
                <c:ptCount val="1"/>
                <c:pt idx="0">
                  <c:v>Average economy fare (₦)</c:v>
                </c:pt>
              </c:strCache>
            </c:strRef>
          </c:tx>
          <c:spPr>
            <a:solidFill>
              <a:srgbClr val="EB6834"/>
            </a:solidFill>
            <a:effectLst/>
          </c:spPr>
          <c:invertIfNegative val="0"/>
          <c:dLbls>
            <c:numFmt formatCode="₦#,##0" sourceLinked="0"/>
            <c:txPr>
              <a:bodyPr/>
              <a:lstStyle/>
              <a:p>
                <a:pPr>
                  <a:defRPr b="0" i="0" strike="noStrike" sz="1100" u="none">
                    <a:solidFill>
                      <a:srgbClr val="16133A"/>
                    </a:solidFill>
                    <a:latin typeface="+mn-lt"/>
                  </a:defRPr>
                </a:pPr>
              </a:p>
            </c:txPr>
            <c:showLegendKey val="0"/>
            <c:showVal val="1"/>
            <c:showCatName val="0"/>
            <c:showSerName val="0"/>
            <c:showPercent val="0"/>
            <c:showBubbleSize val="0"/>
            <c:showLeaderLines val="0"/>
          </c:dLbls>
          <c:cat>
            <c:multiLvlStrRef>
              <c:f>Sheet1!$A$2:$A$7</c:f>
              <c:multiLvlStrCache>
                <c:ptCount val="6"/>
                <c:lvl>
                  <c:pt idx="0">
                    <c:v>&lt; 1 day</c:v>
                  </c:pt>
                  <c:pt idx="1">
                    <c:v>1–3 days</c:v>
                  </c:pt>
                  <c:pt idx="2">
                    <c:v>3–7 days</c:v>
                  </c:pt>
                  <c:pt idx="3">
                    <c:v>1–2 weeks</c:v>
                  </c:pt>
                  <c:pt idx="4">
                    <c:v>2–4 weeks</c:v>
                  </c:pt>
                  <c:pt idx="5">
                    <c:v>30+ days</c:v>
                  </c:pt>
                </c:lvl>
              </c:multiLvlStrCache>
            </c:multiLvlStrRef>
          </c:cat>
          <c:val>
            <c:numRef>
              <c:f>Sheet1!$B$2:$B$7</c:f>
              <c:numCache>
                <c:formatCode>General</c:formatCode>
                <c:ptCount val="6"/>
                <c:pt idx="0">
                  <c:v>137079</c:v>
                </c:pt>
                <c:pt idx="1">
                  <c:v>113844</c:v>
                </c:pt>
                <c:pt idx="2">
                  <c:v>93283</c:v>
                </c:pt>
                <c:pt idx="3">
                  <c:v>80228</c:v>
                </c:pt>
                <c:pt idx="4">
                  <c:v>74092</c:v>
                </c:pt>
                <c:pt idx="5">
                  <c:v>71844</c:v>
                </c:pt>
              </c:numCache>
            </c:numRef>
          </c:val>
        </c:ser>
        <c:dLbls>
          <c:numFmt formatCode="₦#,##0" sourceLinked="0"/>
          <c:txPr>
            <a:bodyPr/>
            <a:lstStyle/>
            <a:p>
              <a:pPr>
                <a:defRPr b="0" i="0" strike="noStrike" sz="1100" u="none">
                  <a:solidFill>
                    <a:srgbClr val="1613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6B9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5F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6B9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33A"/>
                </a:solidFill>
                <a:latin typeface="+mn-lt"/>
              </a:defRPr>
            </a:pPr>
            <a:r>
              <a:rPr sz="1300" b="0" i="0" u="none" strike="noStrike">
                <a:solidFill>
                  <a:srgbClr val="16133A"/>
                </a:solidFill>
                <a:latin typeface="+mn-lt"/>
              </a:rPr>
              <a:t>Bookings per day: last 3 weeks and next 2</a:t>
            </a:r>
          </a:p>
        </c:rich>
      </c:tx>
      <c:layout/>
      <c:overlay val="0"/>
    </c:title>
    <c:autoTitleDeleted val="0"/>
    <c:plotArea>
      <c:layout/>
      <c:lineChart>
        <c:varyColors val="0"/>
        <c:ser>
          <c:idx val="0"/>
          <c:order val="0"/>
          <c:tx>
            <c:strRef>
              <c:f>Sheet1!$B$1</c:f>
              <c:strCache>
                <c:ptCount val="1"/>
                <c:pt idx="0">
                  <c:v>Actual bookings</c:v>
                </c:pt>
              </c:strCache>
            </c:strRef>
          </c:tx>
          <c:spPr>
            <a:solidFill>
              <a:srgbClr val="6F6B98"/>
            </a:solidFill>
            <a:ln w="25400" cap="flat">
              <a:solidFill>
                <a:srgbClr val="6F6B98"/>
              </a:solidFill>
              <a:prstDash val="solid"/>
              <a:round/>
            </a:ln>
            <a:effectLst/>
          </c:spPr>
          <c:invertIfNegative val="0"/>
          <c:dLbls>
            <c:numFmt formatCode="#,##0" sourceLinked="0"/>
            <c:txPr>
              <a:bodyPr/>
              <a:lstStyle/>
              <a:p>
                <a:pPr>
                  <a:defRPr b="0" i="0" strike="noStrike" sz="1100" u="none">
                    <a:solidFill>
                      <a:srgbClr val="16133A"/>
                    </a:solidFill>
                    <a:latin typeface="+mn-lt"/>
                  </a:defRPr>
                </a:pPr>
              </a:p>
            </c:txPr>
            <c:showLegendKey val="0"/>
            <c:showVal val="0"/>
            <c:showCatName val="0"/>
            <c:showSerName val="0"/>
            <c:showPercent val="0"/>
            <c:showBubbleSize val="0"/>
            <c:showLeaderLines val="0"/>
          </c:dLbls>
          <c:marker>
            <c:symbol val="none"/>
            <c:size val="6"/>
            <c:spPr>
              <a:solidFill>
                <a:srgbClr val="6F6B98"/>
              </a:solidFill>
              <a:ln w="9525" cap="flat">
                <a:solidFill>
                  <a:srgbClr val="6F6B98"/>
                </a:solidFill>
                <a:prstDash val="solid"/>
                <a:round/>
              </a:ln>
              <a:effectLst/>
            </c:spPr>
          </c:marker>
          <c:cat>
            <c:multiLvlStrRef>
              <c:f>Sheet1!$A$2:$A$36</c:f>
              <c:multiLvlStrCache>
                <c:ptCount val="35"/>
                <c:lvl>
                  <c:pt idx="0">
                    <c:v>24 Sept</c:v>
                  </c:pt>
                  <c:pt idx="1">
                    <c:v>25 Sept</c:v>
                  </c:pt>
                  <c:pt idx="2">
                    <c:v>26 Sept</c:v>
                  </c:pt>
                  <c:pt idx="3">
                    <c:v>27 Sept</c:v>
                  </c:pt>
                  <c:pt idx="4">
                    <c:v>28 Sept</c:v>
                  </c:pt>
                  <c:pt idx="5">
                    <c:v>29 Sept</c:v>
                  </c:pt>
                  <c:pt idx="6">
                    <c:v>30 Sept</c:v>
                  </c:pt>
                  <c:pt idx="7">
                    <c:v>1 Oct</c:v>
                  </c:pt>
                  <c:pt idx="8">
                    <c:v>2 Oct</c:v>
                  </c:pt>
                  <c:pt idx="9">
                    <c:v>3 Oct</c:v>
                  </c:pt>
                  <c:pt idx="10">
                    <c:v>4 Oct</c:v>
                  </c:pt>
                  <c:pt idx="11">
                    <c:v>5 Oct</c:v>
                  </c:pt>
                  <c:pt idx="12">
                    <c:v>6 Oct</c:v>
                  </c:pt>
                  <c:pt idx="13">
                    <c:v>7 Oct</c:v>
                  </c:pt>
                  <c:pt idx="14">
                    <c:v>8 Oct</c:v>
                  </c:pt>
                  <c:pt idx="15">
                    <c:v>9 Oct</c:v>
                  </c:pt>
                  <c:pt idx="16">
                    <c:v>10 Oct</c:v>
                  </c:pt>
                  <c:pt idx="17">
                    <c:v>11 Oct</c:v>
                  </c:pt>
                  <c:pt idx="18">
                    <c:v>12 Oct</c:v>
                  </c:pt>
                  <c:pt idx="19">
                    <c:v>13 Oct</c:v>
                  </c:pt>
                  <c:pt idx="20">
                    <c:v>14 Oct</c:v>
                  </c:pt>
                  <c:pt idx="21">
                    <c:v>15 Oct</c:v>
                  </c:pt>
                  <c:pt idx="22">
                    <c:v>16 Oct</c:v>
                  </c:pt>
                  <c:pt idx="23">
                    <c:v>17 Oct</c:v>
                  </c:pt>
                  <c:pt idx="24">
                    <c:v>18 Oct</c:v>
                  </c:pt>
                  <c:pt idx="25">
                    <c:v>19 Oct</c:v>
                  </c:pt>
                  <c:pt idx="26">
                    <c:v>20 Oct</c:v>
                  </c:pt>
                  <c:pt idx="27">
                    <c:v>21 Oct</c:v>
                  </c:pt>
                  <c:pt idx="28">
                    <c:v>22 Oct</c:v>
                  </c:pt>
                  <c:pt idx="29">
                    <c:v>23 Oct</c:v>
                  </c:pt>
                  <c:pt idx="30">
                    <c:v>24 Oct</c:v>
                  </c:pt>
                  <c:pt idx="31">
                    <c:v>25 Oct</c:v>
                  </c:pt>
                  <c:pt idx="32">
                    <c:v>26 Oct</c:v>
                  </c:pt>
                  <c:pt idx="33">
                    <c:v>27 Oct</c:v>
                  </c:pt>
                  <c:pt idx="34">
                    <c:v>28 Oct</c:v>
                  </c:pt>
                </c:lvl>
              </c:multiLvlStrCache>
            </c:multiLvlStrRef>
          </c:cat>
          <c:val>
            <c:numRef>
              <c:f>Sheet1!$B$2:$B$36</c:f>
              <c:numCache>
                <c:formatCode>General</c:formatCode>
                <c:ptCount val="35"/>
                <c:pt idx="0">
                  <c:v>181</c:v>
                </c:pt>
                <c:pt idx="1">
                  <c:v>303</c:v>
                </c:pt>
                <c:pt idx="2">
                  <c:v>195</c:v>
                </c:pt>
                <c:pt idx="3">
                  <c:v>245</c:v>
                </c:pt>
                <c:pt idx="4">
                  <c:v>273</c:v>
                </c:pt>
                <c:pt idx="5">
                  <c:v>340</c:v>
                </c:pt>
                <c:pt idx="6">
                  <c:v>253</c:v>
                </c:pt>
                <c:pt idx="7">
                  <c:v>212</c:v>
                </c:pt>
                <c:pt idx="8">
                  <c:v>326</c:v>
                </c:pt>
                <c:pt idx="9">
                  <c:v>197</c:v>
                </c:pt>
                <c:pt idx="10">
                  <c:v>255</c:v>
                </c:pt>
                <c:pt idx="11">
                  <c:v>284</c:v>
                </c:pt>
                <c:pt idx="12">
                  <c:v>307</c:v>
                </c:pt>
                <c:pt idx="13">
                  <c:v>257</c:v>
                </c:pt>
                <c:pt idx="14">
                  <c:v>199</c:v>
                </c:pt>
                <c:pt idx="15">
                  <c:v>293</c:v>
                </c:pt>
                <c:pt idx="16">
                  <c:v>176</c:v>
                </c:pt>
                <c:pt idx="17">
                  <c:v>228</c:v>
                </c:pt>
                <c:pt idx="18">
                  <c:v>270</c:v>
                </c:pt>
                <c:pt idx="19">
                  <c:v>293</c:v>
                </c:pt>
                <c:pt idx="20">
                  <c:v>216</c:v>
                </c:pt>
                <c:pt idx="21">
                  <c:v/>
                </c:pt>
                <c:pt idx="22">
                  <c:v/>
                </c:pt>
                <c:pt idx="23">
                  <c:v/>
                </c:pt>
                <c:pt idx="24">
                  <c:v/>
                </c:pt>
                <c:pt idx="25">
                  <c:v/>
                </c:pt>
                <c:pt idx="26">
                  <c:v/>
                </c:pt>
                <c:pt idx="27">
                  <c:v/>
                </c:pt>
                <c:pt idx="28">
                  <c:v/>
                </c:pt>
                <c:pt idx="29">
                  <c:v/>
                </c:pt>
                <c:pt idx="30">
                  <c:v/>
                </c:pt>
                <c:pt idx="31">
                  <c:v/>
                </c:pt>
                <c:pt idx="32">
                  <c:v/>
                </c:pt>
                <c:pt idx="33">
                  <c:v/>
                </c:pt>
                <c:pt idx="34">
                  <c:v/>
                </c:pt>
              </c:numCache>
            </c:numRef>
          </c:val>
          <c:smooth val="0"/>
        </c:ser>
        <c:ser>
          <c:idx val="1"/>
          <c:order val="1"/>
          <c:tx>
            <c:strRef>
              <c:f>Sheet1!$C$1</c:f>
              <c:strCache>
                <c:ptCount val="1"/>
                <c:pt idx="0">
                  <c:v>Forecast</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6133A"/>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Sheet1!$A$2:$A$36</c:f>
              <c:multiLvlStrCache>
                <c:ptCount val="35"/>
                <c:lvl>
                  <c:pt idx="0">
                    <c:v>24 Sept</c:v>
                  </c:pt>
                  <c:pt idx="1">
                    <c:v>25 Sept</c:v>
                  </c:pt>
                  <c:pt idx="2">
                    <c:v>26 Sept</c:v>
                  </c:pt>
                  <c:pt idx="3">
                    <c:v>27 Sept</c:v>
                  </c:pt>
                  <c:pt idx="4">
                    <c:v>28 Sept</c:v>
                  </c:pt>
                  <c:pt idx="5">
                    <c:v>29 Sept</c:v>
                  </c:pt>
                  <c:pt idx="6">
                    <c:v>30 Sept</c:v>
                  </c:pt>
                  <c:pt idx="7">
                    <c:v>1 Oct</c:v>
                  </c:pt>
                  <c:pt idx="8">
                    <c:v>2 Oct</c:v>
                  </c:pt>
                  <c:pt idx="9">
                    <c:v>3 Oct</c:v>
                  </c:pt>
                  <c:pt idx="10">
                    <c:v>4 Oct</c:v>
                  </c:pt>
                  <c:pt idx="11">
                    <c:v>5 Oct</c:v>
                  </c:pt>
                  <c:pt idx="12">
                    <c:v>6 Oct</c:v>
                  </c:pt>
                  <c:pt idx="13">
                    <c:v>7 Oct</c:v>
                  </c:pt>
                  <c:pt idx="14">
                    <c:v>8 Oct</c:v>
                  </c:pt>
                  <c:pt idx="15">
                    <c:v>9 Oct</c:v>
                  </c:pt>
                  <c:pt idx="16">
                    <c:v>10 Oct</c:v>
                  </c:pt>
                  <c:pt idx="17">
                    <c:v>11 Oct</c:v>
                  </c:pt>
                  <c:pt idx="18">
                    <c:v>12 Oct</c:v>
                  </c:pt>
                  <c:pt idx="19">
                    <c:v>13 Oct</c:v>
                  </c:pt>
                  <c:pt idx="20">
                    <c:v>14 Oct</c:v>
                  </c:pt>
                  <c:pt idx="21">
                    <c:v>15 Oct</c:v>
                  </c:pt>
                  <c:pt idx="22">
                    <c:v>16 Oct</c:v>
                  </c:pt>
                  <c:pt idx="23">
                    <c:v>17 Oct</c:v>
                  </c:pt>
                  <c:pt idx="24">
                    <c:v>18 Oct</c:v>
                  </c:pt>
                  <c:pt idx="25">
                    <c:v>19 Oct</c:v>
                  </c:pt>
                  <c:pt idx="26">
                    <c:v>20 Oct</c:v>
                  </c:pt>
                  <c:pt idx="27">
                    <c:v>21 Oct</c:v>
                  </c:pt>
                  <c:pt idx="28">
                    <c:v>22 Oct</c:v>
                  </c:pt>
                  <c:pt idx="29">
                    <c:v>23 Oct</c:v>
                  </c:pt>
                  <c:pt idx="30">
                    <c:v>24 Oct</c:v>
                  </c:pt>
                  <c:pt idx="31">
                    <c:v>25 Oct</c:v>
                  </c:pt>
                  <c:pt idx="32">
                    <c:v>26 Oct</c:v>
                  </c:pt>
                  <c:pt idx="33">
                    <c:v>27 Oct</c:v>
                  </c:pt>
                  <c:pt idx="34">
                    <c:v>28 Oct</c:v>
                  </c:pt>
                </c:lvl>
              </c:multiLvlStrCache>
            </c:multiLvlStrRef>
          </c:cat>
          <c:val>
            <c:numRef>
              <c:f>Sheet1!$C$2:$C$36</c:f>
              <c:numCache>
                <c:formatCode>General</c:formatCode>
                <c:ptCount val="35"/>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216</c:v>
                </c:pt>
                <c:pt idx="21">
                  <c:v>205.6</c:v>
                </c:pt>
                <c:pt idx="22">
                  <c:v>303</c:v>
                </c:pt>
                <c:pt idx="23">
                  <c:v>202.8</c:v>
                </c:pt>
                <c:pt idx="24">
                  <c:v>250.8</c:v>
                </c:pt>
                <c:pt idx="25">
                  <c:v>263</c:v>
                </c:pt>
                <c:pt idx="26">
                  <c:v>315.4</c:v>
                </c:pt>
                <c:pt idx="27">
                  <c:v>251.6</c:v>
                </c:pt>
                <c:pt idx="28">
                  <c:v>207</c:v>
                </c:pt>
                <c:pt idx="29">
                  <c:v>304.5</c:v>
                </c:pt>
                <c:pt idx="30">
                  <c:v>204.3</c:v>
                </c:pt>
                <c:pt idx="31">
                  <c:v>252.2</c:v>
                </c:pt>
                <c:pt idx="32">
                  <c:v>264.4</c:v>
                </c:pt>
                <c:pt idx="33">
                  <c:v>316.8</c:v>
                </c:pt>
                <c:pt idx="34">
                  <c:v>253</c:v>
                </c:pt>
              </c:numCache>
            </c:numRef>
          </c:val>
          <c:smooth val="0"/>
        </c:ser>
        <c:dLbls>
          <c:numFmt formatCode="#,##0" sourceLinked="0"/>
          <c:txPr>
            <a:bodyPr/>
            <a:lstStyle/>
            <a:p>
              <a:pPr>
                <a:defRPr b="0" i="0" strike="noStrike" sz="1100" u="none">
                  <a:solidFill>
                    <a:srgbClr val="16133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6B98"/>
                </a:solidFill>
                <a:latin typeface="+mn-lt"/>
              </a:defRPr>
            </a:pPr>
            <a:endParaRPr lang="en-US"/>
          </a:p>
        </c:txPr>
        <c:crossAx val="2094734552"/>
        <c:crosses val="autoZero"/>
        <c:auto val="1"/>
        <c:lblAlgn val="ctr"/>
        <c:noMultiLvlLbl val="1"/>
        <c:tickLblSkip val="7"/>
      </c:catAx>
      <c:valAx>
        <c:axId val="2094734552"/>
        <c:scaling>
          <c:orientation val="minMax"/>
        </c:scaling>
        <c:delete val="0"/>
        <c:axPos val="l"/>
        <c:majorGridlines>
          <c:spPr>
            <a:ln w="9525" cap="flat">
              <a:solidFill>
                <a:srgbClr val="E4E5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6B9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6133A"/>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33A"/>
                </a:solidFill>
                <a:latin typeface="+mn-lt"/>
              </a:defRPr>
            </a:pPr>
            <a:r>
              <a:rPr sz="1300" b="0" i="0" u="none" strike="noStrike">
                <a:solidFill>
                  <a:srgbClr val="16133A"/>
                </a:solidFill>
                <a:latin typeface="+mn-lt"/>
              </a:rPr>
              <a:t>Share of revenue by K-means segment</a:t>
            </a:r>
          </a:p>
        </c:rich>
      </c:tx>
      <c:layout/>
      <c:overlay val="0"/>
    </c:title>
    <c:autoTitleDeleted val="0"/>
    <c:plotArea>
      <c:layout/>
      <c:barChart>
        <c:barDir val="bar"/>
        <c:grouping val="clustered"/>
        <c:varyColors val="0"/>
        <c:ser>
          <c:idx val="0"/>
          <c:order val="0"/>
          <c:tx>
            <c:strRef>
              <c:f>Sheet1!$B$1</c:f>
              <c:strCache>
                <c:ptCount val="1"/>
                <c:pt idx="0">
                  <c:v>Share of revenue</c:v>
                </c:pt>
              </c:strCache>
            </c:strRef>
          </c:tx>
          <c:spPr>
            <a:solidFill>
              <a:srgbClr val="2A78D6"/>
            </a:solidFill>
            <a:effectLst/>
          </c:spPr>
          <c:invertIfNegative val="0"/>
          <c:dLbls>
            <c:numFmt formatCode="0&quot;%&quot;" sourceLinked="0"/>
            <c:txPr>
              <a:bodyPr/>
              <a:lstStyle/>
              <a:p>
                <a:pPr>
                  <a:defRPr b="0" i="0" strike="noStrike" sz="1100" u="none">
                    <a:solidFill>
                      <a:srgbClr val="16133A"/>
                    </a:solidFill>
                    <a:latin typeface="+mn-lt"/>
                  </a:defRPr>
                </a:pPr>
              </a:p>
            </c:txPr>
            <c:showLegendKey val="0"/>
            <c:showVal val="1"/>
            <c:showCatName val="0"/>
            <c:showSerName val="0"/>
            <c:showPercent val="0"/>
            <c:showBubbleSize val="0"/>
            <c:showLeaderLines val="0"/>
          </c:dLbls>
          <c:cat>
            <c:multiLvlStrRef>
              <c:f>Sheet1!$A$2:$A$5</c:f>
              <c:multiLvlStrCache>
                <c:ptCount val="4"/>
                <c:lvl>
                  <c:pt idx="0">
                    <c:v>Frequent commuters</c:v>
                  </c:pt>
                  <c:pt idx="1">
                    <c:v>Occasional flyers</c:v>
                  </c:pt>
                  <c:pt idx="2">
                    <c:v>Premium jet-setters</c:v>
                  </c:pt>
                  <c:pt idx="3">
                    <c:v>Early planners</c:v>
                  </c:pt>
                </c:lvl>
              </c:multiLvlStrCache>
            </c:multiLvlStrRef>
          </c:cat>
          <c:val>
            <c:numRef>
              <c:f>Sheet1!$B$2:$B$5</c:f>
              <c:numCache>
                <c:formatCode>General</c:formatCode>
                <c:ptCount val="4"/>
                <c:pt idx="0">
                  <c:v>59.1</c:v>
                </c:pt>
                <c:pt idx="1">
                  <c:v>24.5</c:v>
                </c:pt>
                <c:pt idx="2">
                  <c:v>12.5</c:v>
                </c:pt>
                <c:pt idx="3">
                  <c:v>3.9</c:v>
                </c:pt>
              </c:numCache>
            </c:numRef>
          </c:val>
        </c:ser>
        <c:dLbls>
          <c:numFmt formatCode="0&quot;%&quot;" sourceLinked="0"/>
          <c:txPr>
            <a:bodyPr/>
            <a:lstStyle/>
            <a:p>
              <a:pPr>
                <a:defRPr b="0" i="0" strike="noStrike" sz="1100" u="none">
                  <a:solidFill>
                    <a:srgbClr val="1613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F6B9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F6B9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 without the drama. Flyte started as a terminal menu for managing flights, passengers and bookings. This deck shows what it became: a full web app travellers can use, and an operations console that uses data science to price, forecast and segment. Everything still runs on the same object-oriented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original coursework: a single file with a console menu. Right is Flyte. The original Passenger, Flight, Booking and AirlineSystem classes are still the heart of it, extended rather than rewritten. The original console menu still runs against the same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on the search page: four airlines fly the same route at different prices and bag rules, and the AirlineRecommender class picks the best value and explains why. Then the five booking steps. Each step is handled by a class: FlightClass for cabins, Flight for seats, BaggagePolicy for luggage fees, InsuranceTier for cover, PaymentGateway for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boarding pass page is where a booking lives. Check-in, refunds and miles are each their own class: Booking handles the check-in window, RefundPolicy calculates refunds, and LoyaltyProgram awards miles.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dashboard is built from the AnalyticsEngine class, which turns the live objects into pandas DataFrames. Each KPI is compared with the previous 30 days. Staff can also delay or cancel flights, and every affected passenger is refunded and notified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The browser never touches data directly. Flask views call AirlineSystem, which owns the models and delegates to services and analytics. Storage is an abstract class, so SQLite and JSON are interchangeable. The original console UI plugs into the same AirlineSystem.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examples to point to if you're asked about OOP. Each pillar solves a concrete problem in the app rather than being there for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computed from the demo bookings, each priced by the PricingEngine at the moment it was made. It shows the airline revenue management idea in one picture: early bookers get lower fares, last-minute travellers pay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demand forecaster, with its honest backtest score. Right: customer segments. The clusters are named automatically from their centroids. The frequent commuters are a small group that carries most of the revenue, which is the classic case for a loyalty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on a laptop in four commands, put it online through GitHub and PythonAnywhere, and be upfront about the limits: payments are test mode, the airlines and data are fictional, it runs on one server with SQLite, emails need a mail server, there is no password reset, and each booking is for one passenger. The biggest gap is payments, and fixing it is one new class that inherits from PaymentGateway.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b="1" dirty="0">
                <a:solidFill>
                  <a:schemeClr val="accent1"/>
                </a:solidFill>
              </a:rPr>
              <a:t>Flyte</a:t>
            </a:r>
            <a:endParaRPr lang="en-US" sz="1000" dirty="0"/>
          </a:p>
        </p:txBody>
      </p:sp>
      <p:sp>
        <p:nvSpPr>
          <p:cNvPr id="3" name="Text 1"/>
          <p:cNvSpPr/>
          <p:nvPr>
            <p:ph idx="101" type="title" hasCustomPrompt="1"/>
          </p:nvPr>
        </p:nvSpPr>
        <p:spPr>
          <a:xfrm>
            <a:off x="548640" y="365760"/>
            <a:ext cx="11064240" cy="868680"/>
          </a:xfrm>
          <a:prstGeom prst="rect">
            <a:avLst/>
          </a:prstGeom>
          <a:noFill/>
          <a:ln/>
        </p:spPr>
        <p:txBody>
          <a:bodyPr wrap="square" rtlCol="0"/>
          <a:lstStyle>
            <a:lvl1pPr indent="0" marL="0">
              <a:buNone/>
              <a:defRPr lang="en-US" sz="3400" b="1" dirty="0">
                <a:solidFill>
                  <a:schemeClr val="tx1"/>
                </a:solidFill>
                <a:latin typeface="Arial" pitchFamily="34" charset="0"/>
                <a:ea typeface="Arial" pitchFamily="34" charset="-122"/>
                <a:cs typeface="Arial"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mark"/>
          <p:cNvSpPr/>
          <p:nvPr/>
        </p:nvSpPr>
        <p:spPr>
          <a:xfrm rot="-480000">
            <a:off x="640080" y="685800"/>
            <a:ext cx="685800" cy="685800"/>
          </a:xfrm>
          <a:prstGeom prst="roundRect">
            <a:avLst>
              <a:gd name="adj" fmla="val 18667"/>
            </a:avLst>
          </a:prstGeom>
          <a:solidFill>
            <a:schemeClr val="accent2"/>
          </a:solidFill>
          <a:ln w="25400">
            <a:solidFill>
              <a:schemeClr val="tx1"/>
            </a:solidFill>
            <a:prstDash val="solid"/>
          </a:ln>
        </p:spPr>
      </p:sp>
      <p:pic>
        <p:nvPicPr>
          <p:cNvPr id="3" name="logo-plane" descr="preencoded.png">    </p:cNvPr>
          <p:cNvPicPr>
            <a:picLocks noChangeAspect="1"/>
          </p:cNvPicPr>
          <p:nvPr/>
        </p:nvPicPr>
        <p:blipFill>
          <a:blip r:embed="rId1"/>
          <a:stretch>
            <a:fillRect/>
          </a:stretch>
        </p:blipFill>
        <p:spPr>
          <a:xfrm>
            <a:off x="790956" y="836676"/>
            <a:ext cx="384048" cy="384048"/>
          </a:xfrm>
          <a:prstGeom prst="rect">
            <a:avLst/>
          </a:prstGeom>
        </p:spPr>
      </p:pic>
      <p:sp>
        <p:nvSpPr>
          <p:cNvPr id="4" name="Text 1"/>
          <p:cNvSpPr txBox="1"/>
          <p:nvPr/>
        </p:nvSpPr>
        <p:spPr>
          <a:xfrm>
            <a:off x="1508760" y="658368"/>
            <a:ext cx="2743200" cy="73152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flyte</a:t>
            </a:r>
            <a:endParaRPr lang="en-US" sz="3200" dirty="0"/>
          </a:p>
        </p:txBody>
      </p:sp>
      <p:sp>
        <p:nvSpPr>
          <p:cNvPr id="5" name="Text 2"/>
          <p:cNvSpPr txBox="1"/>
          <p:nvPr/>
        </p:nvSpPr>
        <p:spPr>
          <a:xfrm>
            <a:off x="640080" y="1828800"/>
            <a:ext cx="5577840" cy="1737360"/>
          </a:xfrm>
          <a:prstGeom prst="rect">
            <a:avLst/>
          </a:prstGeom>
          <a:noFill/>
          <a:ln/>
        </p:spPr>
        <p:txBody>
          <a:bodyPr wrap="square" lIns="0" tIns="0" rIns="0" bIns="0" rtlCol="0" anchor="t"/>
          <a:lstStyle/>
          <a:p>
            <a:pPr indent="0" marL="0">
              <a:buNone/>
            </a:pPr>
            <a:r>
              <a:rPr lang="en-US" sz="4400" b="1" dirty="0">
                <a:solidFill>
                  <a:schemeClr val="bg1"/>
                </a:solidFill>
                <a:latin typeface="Arial" pitchFamily="34" charset="0"/>
                <a:ea typeface="Arial" pitchFamily="34" charset="-122"/>
                <a:cs typeface="Arial" pitchFamily="34" charset="-120"/>
              </a:rPr>
              <a:t>Fly without the drama.</a:t>
            </a:r>
            <a:endParaRPr lang="en-US" sz="4400" dirty="0"/>
          </a:p>
        </p:txBody>
      </p:sp>
      <p:sp>
        <p:nvSpPr>
          <p:cNvPr id="6" name="Text 3"/>
          <p:cNvSpPr txBox="1"/>
          <p:nvPr/>
        </p:nvSpPr>
        <p:spPr>
          <a:xfrm>
            <a:off x="640080" y="3703320"/>
            <a:ext cx="5394960" cy="1097280"/>
          </a:xfrm>
          <a:prstGeom prst="rect">
            <a:avLst/>
          </a:prstGeom>
          <a:noFill/>
          <a:ln/>
        </p:spPr>
        <p:txBody>
          <a:bodyPr wrap="square" lIns="0" tIns="0" rIns="0" bIns="0" rtlCol="0" anchor="t"/>
          <a:lstStyle/>
          <a:p>
            <a:pPr indent="0" marL="0">
              <a:buNone/>
            </a:pPr>
            <a:r>
              <a:rPr lang="en-US" sz="1800" dirty="0">
                <a:solidFill>
                  <a:srgbClr val="C3BFF0"/>
                </a:solidFill>
              </a:rPr>
              <a:t>A Nigerian airline booking web app built from a console OOP project, with a pricing engine, demand forecasting and customer segmentation on top.</a:t>
            </a:r>
            <a:endParaRPr lang="en-US" sz="1800" dirty="0"/>
          </a:p>
        </p:txBody>
      </p:sp>
      <p:sp>
        <p:nvSpPr>
          <p:cNvPr id="7" name="Text 4"/>
          <p:cNvSpPr txBox="1"/>
          <p:nvPr/>
        </p:nvSpPr>
        <p:spPr>
          <a:xfrm>
            <a:off x="640080" y="5394960"/>
            <a:ext cx="5486400" cy="365760"/>
          </a:xfrm>
          <a:prstGeom prst="rect">
            <a:avLst/>
          </a:prstGeom>
          <a:noFill/>
          <a:ln/>
        </p:spPr>
        <p:txBody>
          <a:bodyPr wrap="square" lIns="0" tIns="0" rIns="0" bIns="0" rtlCol="0" anchor="ctr"/>
          <a:lstStyle/>
          <a:p>
            <a:pPr indent="0" marL="0">
              <a:buNone/>
            </a:pPr>
            <a:r>
              <a:rPr lang="en-US" sz="1400" b="1" dirty="0">
                <a:solidFill>
                  <a:schemeClr val="accent2"/>
                </a:solidFill>
              </a:rPr>
              <a:t>Python + Flask</a:t>
            </a:r>
            <a:pPr indent="0" marL="0">
              <a:buNone/>
            </a:pPr>
            <a:r>
              <a:rPr lang="en-US" sz="1400" dirty="0">
                <a:solidFill>
                  <a:srgbClr val="C3BFF0"/>
                </a:solidFill>
              </a:rPr>
              <a:t>   pandas + NumPy   SQLite   Vanilla JS</a:t>
            </a:r>
            <a:endParaRPr lang="en-US" sz="1400" dirty="0"/>
          </a:p>
        </p:txBody>
      </p:sp>
      <p:sp>
        <p:nvSpPr>
          <p:cNvPr id="8" name="shot-shadow"/>
          <p:cNvSpPr/>
          <p:nvPr/>
        </p:nvSpPr>
        <p:spPr>
          <a:xfrm>
            <a:off x="6556248" y="1252728"/>
            <a:ext cx="5120640" cy="3236976"/>
          </a:xfrm>
          <a:prstGeom prst="rect">
            <a:avLst/>
          </a:prstGeom>
          <a:solidFill>
            <a:schemeClr val="accent2"/>
          </a:solidFill>
          <a:ln w="12700">
            <a:solidFill>
              <a:schemeClr val="accent2"/>
            </a:solidFill>
            <a:prstDash val="solid"/>
          </a:ln>
        </p:spPr>
      </p:sp>
      <p:pic>
        <p:nvPicPr>
          <p:cNvPr id="9" name="screenshot" descr="hero.png">    </p:cNvPr>
          <p:cNvPicPr>
            <a:picLocks noChangeAspect="1"/>
          </p:cNvPicPr>
          <p:nvPr/>
        </p:nvPicPr>
        <p:blipFill>
          <a:blip r:embed="rId2"/>
          <a:stretch>
            <a:fillRect/>
          </a:stretch>
        </p:blipFill>
        <p:spPr>
          <a:xfrm>
            <a:off x="6446520" y="1143000"/>
            <a:ext cx="5120640" cy="3236976"/>
          </a:xfrm>
          <a:prstGeom prst="rect">
            <a:avLst/>
          </a:prstGeom>
        </p:spPr>
      </p:pic>
      <p:sp>
        <p:nvSpPr>
          <p:cNvPr id="10" name="shot-frame"/>
          <p:cNvSpPr/>
          <p:nvPr/>
        </p:nvSpPr>
        <p:spPr>
          <a:xfrm>
            <a:off x="6446520" y="1143000"/>
            <a:ext cx="5120640" cy="3236976"/>
          </a:xfrm>
          <a:prstGeom prst="rect">
            <a:avLst/>
          </a:prstGeom>
          <a:ln w="19050">
            <a:solidFill>
              <a:schemeClr val="tx1"/>
            </a:solidFill>
            <a:prstDash val="solid"/>
          </a:ln>
        </p:spPr>
      </p:sp>
      <p:sp>
        <p:nvSpPr>
          <p:cNvPr id="11" name="Text 7"/>
          <p:cNvSpPr txBox="1"/>
          <p:nvPr/>
        </p:nvSpPr>
        <p:spPr>
          <a:xfrm>
            <a:off x="6446520" y="4617720"/>
            <a:ext cx="5120640" cy="320040"/>
          </a:xfrm>
          <a:prstGeom prst="rect">
            <a:avLst/>
          </a:prstGeom>
          <a:noFill/>
          <a:ln/>
        </p:spPr>
        <p:txBody>
          <a:bodyPr wrap="square" lIns="0" tIns="0" rIns="0" bIns="0" rtlCol="0" anchor="ctr"/>
          <a:lstStyle/>
          <a:p>
            <a:pPr indent="0" marL="0">
              <a:buNone/>
            </a:pPr>
            <a:r>
              <a:rPr lang="en-US" sz="1100" dirty="0">
                <a:solidFill>
                  <a:srgbClr val="C3BFF0"/>
                </a:solidFill>
              </a:rPr>
              <a:t>Home page: live route map, search ticket and departures</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From an 11-option terminal menu to a web product</a:t>
            </a:r>
            <a:endParaRPr lang="en-US" sz="3400" dirty="0"/>
          </a:p>
        </p:txBody>
      </p:sp>
      <p:sp>
        <p:nvSpPr>
          <p:cNvPr id="3" name="before-card"/>
          <p:cNvSpPr/>
          <p:nvPr/>
        </p:nvSpPr>
        <p:spPr>
          <a:xfrm>
            <a:off x="548640" y="1508760"/>
            <a:ext cx="5074920" cy="4526280"/>
          </a:xfrm>
          <a:prstGeom prst="roundRect">
            <a:avLst>
              <a:gd name="adj" fmla="val 3636"/>
            </a:avLst>
          </a:prstGeom>
          <a:solidFill>
            <a:srgbClr val="F7F7FC"/>
          </a:solidFill>
          <a:ln w="12700">
            <a:solidFill>
              <a:srgbClr val="D6D8F3"/>
            </a:solidFill>
            <a:prstDash val="solid"/>
          </a:ln>
        </p:spPr>
      </p:sp>
      <p:sp>
        <p:nvSpPr>
          <p:cNvPr id="4" name="Text 2"/>
          <p:cNvSpPr txBox="1"/>
          <p:nvPr/>
        </p:nvSpPr>
        <p:spPr>
          <a:xfrm>
            <a:off x="868680" y="1737360"/>
            <a:ext cx="4389120" cy="411480"/>
          </a:xfrm>
          <a:prstGeom prst="rect">
            <a:avLst/>
          </a:prstGeom>
          <a:noFill/>
          <a:ln/>
        </p:spPr>
        <p:txBody>
          <a:bodyPr wrap="square" lIns="0" tIns="0" rIns="0" bIns="0" rtlCol="0" anchor="ctr"/>
          <a:lstStyle/>
          <a:p>
            <a:pPr indent="0" marL="0">
              <a:buNone/>
            </a:pPr>
            <a:r>
              <a:rPr lang="en-US" sz="2000" b="1" dirty="0">
                <a:solidFill>
                  <a:srgbClr val="6F6B98"/>
                </a:solidFill>
              </a:rPr>
              <a:t>Console version</a:t>
            </a:r>
            <a:endParaRPr lang="en-US" sz="2000" dirty="0"/>
          </a:p>
        </p:txBody>
      </p:sp>
      <p:sp>
        <p:nvSpPr>
          <p:cNvPr id="5" name="Text 3"/>
          <p:cNvSpPr txBox="1"/>
          <p:nvPr/>
        </p:nvSpPr>
        <p:spPr>
          <a:xfrm>
            <a:off x="868680" y="23317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1  </a:t>
            </a:r>
            <a:pPr indent="0" marL="0">
              <a:buNone/>
            </a:pPr>
            <a:r>
              <a:rPr lang="en-US" sz="1500" dirty="0">
                <a:solidFill>
                  <a:srgbClr val="6F6B98"/>
                </a:solidFill>
              </a:rPr>
              <a:t>Python file</a:t>
            </a:r>
            <a:endParaRPr lang="en-US" sz="2200" dirty="0"/>
          </a:p>
        </p:txBody>
      </p:sp>
      <p:sp>
        <p:nvSpPr>
          <p:cNvPr id="6" name="Text 4"/>
          <p:cNvSpPr txBox="1"/>
          <p:nvPr/>
        </p:nvSpPr>
        <p:spPr>
          <a:xfrm>
            <a:off x="868680" y="30175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14  </a:t>
            </a:r>
            <a:pPr indent="0" marL="0">
              <a:buNone/>
            </a:pPr>
            <a:r>
              <a:rPr lang="en-US" sz="1500" dirty="0">
                <a:solidFill>
                  <a:srgbClr val="6F6B98"/>
                </a:solidFill>
              </a:rPr>
              <a:t>classes</a:t>
            </a:r>
            <a:endParaRPr lang="en-US" sz="2200" dirty="0"/>
          </a:p>
        </p:txBody>
      </p:sp>
      <p:sp>
        <p:nvSpPr>
          <p:cNvPr id="7" name="Text 5"/>
          <p:cNvSpPr txBox="1"/>
          <p:nvPr/>
        </p:nvSpPr>
        <p:spPr>
          <a:xfrm>
            <a:off x="868680" y="37033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11  </a:t>
            </a:r>
            <a:pPr indent="0" marL="0">
              <a:buNone/>
            </a:pPr>
            <a:r>
              <a:rPr lang="en-US" sz="1500" dirty="0">
                <a:solidFill>
                  <a:srgbClr val="6F6B98"/>
                </a:solidFill>
              </a:rPr>
              <a:t>menu options</a:t>
            </a:r>
            <a:endParaRPr lang="en-US" sz="2200" dirty="0"/>
          </a:p>
        </p:txBody>
      </p:sp>
      <p:sp>
        <p:nvSpPr>
          <p:cNvPr id="8" name="Text 6"/>
          <p:cNvSpPr txBox="1"/>
          <p:nvPr/>
        </p:nvSpPr>
        <p:spPr>
          <a:xfrm>
            <a:off x="868680" y="43891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500  </a:t>
            </a:r>
            <a:pPr indent="0" marL="0">
              <a:buNone/>
            </a:pPr>
            <a:r>
              <a:rPr lang="en-US" sz="1500" dirty="0">
                <a:solidFill>
                  <a:srgbClr val="6F6B98"/>
                </a:solidFill>
              </a:rPr>
              <a:t>flat miles per trip</a:t>
            </a:r>
            <a:endParaRPr lang="en-US" sz="2200" dirty="0"/>
          </a:p>
        </p:txBody>
      </p:sp>
      <p:sp>
        <p:nvSpPr>
          <p:cNvPr id="9" name="Text 7"/>
          <p:cNvSpPr txBox="1"/>
          <p:nvPr/>
        </p:nvSpPr>
        <p:spPr>
          <a:xfrm>
            <a:off x="868680" y="50749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0  </a:t>
            </a:r>
            <a:pPr indent="0" marL="0">
              <a:buNone/>
            </a:pPr>
            <a:r>
              <a:rPr lang="en-US" sz="1500" dirty="0">
                <a:solidFill>
                  <a:srgbClr val="6F6B98"/>
                </a:solidFill>
              </a:rPr>
              <a:t>tests</a:t>
            </a:r>
            <a:endParaRPr lang="en-US" sz="2200" dirty="0"/>
          </a:p>
        </p:txBody>
      </p:sp>
      <p:pic>
        <p:nvPicPr>
          <p:cNvPr id="10" name="arrow" descr="preencoded.png">    </p:cNvPr>
          <p:cNvPicPr>
            <a:picLocks noChangeAspect="1"/>
          </p:cNvPicPr>
          <p:nvPr/>
        </p:nvPicPr>
        <p:blipFill>
          <a:blip r:embed="rId1"/>
          <a:stretch>
            <a:fillRect/>
          </a:stretch>
        </p:blipFill>
        <p:spPr>
          <a:xfrm>
            <a:off x="5852160" y="3520440"/>
            <a:ext cx="457200" cy="457200"/>
          </a:xfrm>
          <a:prstGeom prst="rect">
            <a:avLst/>
          </a:prstGeom>
        </p:spPr>
      </p:pic>
      <p:sp>
        <p:nvSpPr>
          <p:cNvPr id="11" name="after-card"/>
          <p:cNvSpPr/>
          <p:nvPr/>
        </p:nvSpPr>
        <p:spPr>
          <a:xfrm>
            <a:off x="6537960" y="1508760"/>
            <a:ext cx="5074920" cy="4526280"/>
          </a:xfrm>
          <a:prstGeom prst="roundRect">
            <a:avLst>
              <a:gd name="adj" fmla="val 3636"/>
            </a:avLst>
          </a:prstGeom>
          <a:solidFill>
            <a:schemeClr val="bg1"/>
          </a:solidFill>
          <a:ln w="12700">
            <a:solidFill>
              <a:srgbClr val="D6D8F3"/>
            </a:solidFill>
            <a:prstDash val="solid"/>
          </a:ln>
        </p:spPr>
      </p:sp>
      <p:sp>
        <p:nvSpPr>
          <p:cNvPr id="12" name="after-stub"/>
          <p:cNvSpPr/>
          <p:nvPr/>
        </p:nvSpPr>
        <p:spPr>
          <a:xfrm>
            <a:off x="10241280" y="1508760"/>
            <a:ext cx="1371600" cy="4526280"/>
          </a:xfrm>
          <a:prstGeom prst="roundRect">
            <a:avLst>
              <a:gd name="adj" fmla="val 12000"/>
            </a:avLst>
          </a:prstGeom>
          <a:solidFill>
            <a:schemeClr val="accent2"/>
          </a:solidFill>
          <a:ln w="12700">
            <a:solidFill>
              <a:schemeClr val="accent2"/>
            </a:solidFill>
            <a:prstDash val="solid"/>
          </a:ln>
        </p:spPr>
      </p:sp>
      <p:sp>
        <p:nvSpPr>
          <p:cNvPr id="13" name="stub-join"/>
          <p:cNvSpPr/>
          <p:nvPr/>
        </p:nvSpPr>
        <p:spPr>
          <a:xfrm>
            <a:off x="10241280" y="1508760"/>
            <a:ext cx="274320" cy="4526280"/>
          </a:xfrm>
          <a:prstGeom prst="rect">
            <a:avLst/>
          </a:prstGeom>
          <a:solidFill>
            <a:schemeClr val="accent2"/>
          </a:solidFill>
          <a:ln w="12700">
            <a:solidFill>
              <a:schemeClr val="accent2"/>
            </a:solidFill>
            <a:prstDash val="solid"/>
          </a:ln>
        </p:spPr>
      </p:sp>
      <p:sp>
        <p:nvSpPr>
          <p:cNvPr id="14" name="perforation"/>
          <p:cNvSpPr/>
          <p:nvPr/>
        </p:nvSpPr>
        <p:spPr>
          <a:xfrm>
            <a:off x="10241280" y="1600200"/>
            <a:ext cx="0" cy="4343400"/>
          </a:xfrm>
          <a:prstGeom prst="line">
            <a:avLst/>
          </a:prstGeom>
          <a:noFill/>
          <a:ln w="19050">
            <a:solidFill>
              <a:schemeClr val="tx1"/>
            </a:solidFill>
            <a:prstDash val="dash"/>
          </a:ln>
        </p:spPr>
      </p:sp>
      <p:sp>
        <p:nvSpPr>
          <p:cNvPr id="15" name="Text 12"/>
          <p:cNvSpPr txBox="1"/>
          <p:nvPr/>
        </p:nvSpPr>
        <p:spPr>
          <a:xfrm>
            <a:off x="6858000" y="1737360"/>
            <a:ext cx="3291840" cy="411480"/>
          </a:xfrm>
          <a:prstGeom prst="rect">
            <a:avLst/>
          </a:prstGeom>
          <a:noFill/>
          <a:ln/>
        </p:spPr>
        <p:txBody>
          <a:bodyPr wrap="square" lIns="0" tIns="0" rIns="0" bIns="0" rtlCol="0" anchor="ctr"/>
          <a:lstStyle/>
          <a:p>
            <a:pPr indent="0" marL="0">
              <a:buNone/>
            </a:pPr>
            <a:r>
              <a:rPr lang="en-US" sz="2000" b="1" dirty="0">
                <a:solidFill>
                  <a:schemeClr val="accent1"/>
                </a:solidFill>
              </a:rPr>
              <a:t>Flyte web app</a:t>
            </a:r>
            <a:endParaRPr lang="en-US" sz="2000" dirty="0"/>
          </a:p>
        </p:txBody>
      </p:sp>
      <p:sp>
        <p:nvSpPr>
          <p:cNvPr id="16" name="Text 13"/>
          <p:cNvSpPr txBox="1"/>
          <p:nvPr/>
        </p:nvSpPr>
        <p:spPr>
          <a:xfrm>
            <a:off x="6858000" y="23317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109 + 18  </a:t>
            </a:r>
            <a:pPr indent="0" marL="0">
              <a:buNone/>
            </a:pPr>
            <a:r>
              <a:rPr lang="en-US" sz="1500" dirty="0">
                <a:solidFill>
                  <a:schemeClr val="tx1"/>
                </a:solidFill>
              </a:rPr>
              <a:t>Python + JS classes</a:t>
            </a:r>
            <a:endParaRPr lang="en-US" sz="2200" dirty="0"/>
          </a:p>
        </p:txBody>
      </p:sp>
      <p:sp>
        <p:nvSpPr>
          <p:cNvPr id="17" name="Text 14"/>
          <p:cNvSpPr txBox="1"/>
          <p:nvPr/>
        </p:nvSpPr>
        <p:spPr>
          <a:xfrm>
            <a:off x="6858000" y="30175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33  </a:t>
            </a:r>
            <a:pPr indent="0" marL="0">
              <a:buNone/>
            </a:pPr>
            <a:r>
              <a:rPr lang="en-US" sz="1500" dirty="0">
                <a:solidFill>
                  <a:schemeClr val="tx1"/>
                </a:solidFill>
              </a:rPr>
              <a:t>automated tests</a:t>
            </a:r>
            <a:endParaRPr lang="en-US" sz="2200" dirty="0"/>
          </a:p>
        </p:txBody>
      </p:sp>
      <p:sp>
        <p:nvSpPr>
          <p:cNvPr id="18" name="Text 15"/>
          <p:cNvSpPr txBox="1"/>
          <p:nvPr/>
        </p:nvSpPr>
        <p:spPr>
          <a:xfrm>
            <a:off x="6858000" y="37033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4  </a:t>
            </a:r>
            <a:pPr indent="0" marL="0">
              <a:buNone/>
            </a:pPr>
            <a:r>
              <a:rPr lang="en-US" sz="1500" dirty="0">
                <a:solidFill>
                  <a:schemeClr val="tx1"/>
                </a:solidFill>
              </a:rPr>
              <a:t>airlines to compare, with bag rules</a:t>
            </a:r>
            <a:endParaRPr lang="en-US" sz="2200" dirty="0"/>
          </a:p>
        </p:txBody>
      </p:sp>
      <p:sp>
        <p:nvSpPr>
          <p:cNvPr id="19" name="Text 16"/>
          <p:cNvSpPr txBox="1"/>
          <p:nvPr/>
        </p:nvSpPr>
        <p:spPr>
          <a:xfrm>
            <a:off x="6858000" y="43891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3  </a:t>
            </a:r>
            <a:pPr indent="0" marL="0">
              <a:buNone/>
            </a:pPr>
            <a:r>
              <a:rPr lang="en-US" sz="1500" dirty="0">
                <a:solidFill>
                  <a:schemeClr val="tx1"/>
                </a:solidFill>
              </a:rPr>
              <a:t>trip types: one-way, return, multi-city</a:t>
            </a:r>
            <a:endParaRPr lang="en-US" sz="2200" dirty="0"/>
          </a:p>
        </p:txBody>
      </p:sp>
      <p:sp>
        <p:nvSpPr>
          <p:cNvPr id="20" name="Text 17"/>
          <p:cNvSpPr txBox="1"/>
          <p:nvPr/>
        </p:nvSpPr>
        <p:spPr>
          <a:xfrm>
            <a:off x="6858000" y="50749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Live  </a:t>
            </a:r>
            <a:pPr indent="0" marL="0">
              <a:buNone/>
            </a:pPr>
            <a:r>
              <a:rPr lang="en-US" sz="1500" dirty="0">
                <a:solidFill>
                  <a:schemeClr val="tx1"/>
                </a:solidFill>
              </a:rPr>
              <a:t>prices, forecasts and segments</a:t>
            </a:r>
            <a:endParaRPr lang="en-US" sz="2200" dirty="0"/>
          </a:p>
        </p:txBody>
      </p:sp>
      <p:sp>
        <p:nvSpPr>
          <p:cNvPr id="21" name="Text 18"/>
          <p:cNvSpPr txBox="1"/>
          <p:nvPr/>
        </p:nvSpPr>
        <p:spPr>
          <a:xfrm>
            <a:off x="10287000" y="3108960"/>
            <a:ext cx="1280160" cy="1280160"/>
          </a:xfrm>
          <a:prstGeom prst="rect">
            <a:avLst/>
          </a:prstGeom>
          <a:noFill/>
          <a:ln/>
        </p:spPr>
        <p:txBody>
          <a:bodyPr wrap="square" lIns="0" tIns="0" rIns="0" bIns="0" rtlCol="0" anchor="ctr"/>
          <a:lstStyle/>
          <a:p>
            <a:pPr algn="ctr" indent="0" marL="0">
              <a:buNone/>
            </a:pPr>
            <a:r>
              <a:rPr lang="en-US" sz="1600" b="1" dirty="0">
                <a:solidFill>
                  <a:schemeClr val="tx1"/>
                </a:solidFill>
              </a:rPr>
              <a:t>Same OOP core</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Compare airlines, then book in five steps</a:t>
            </a:r>
            <a:endParaRPr lang="en-US" sz="3400" dirty="0"/>
          </a:p>
        </p:txBody>
      </p:sp>
      <p:sp>
        <p:nvSpPr>
          <p:cNvPr id="3" name="step-dot"/>
          <p:cNvSpPr/>
          <p:nvPr/>
        </p:nvSpPr>
        <p:spPr>
          <a:xfrm>
            <a:off x="548640" y="1463040"/>
            <a:ext cx="512064" cy="512064"/>
          </a:xfrm>
          <a:prstGeom prst="ellipse">
            <a:avLst/>
          </a:prstGeom>
          <a:solidFill>
            <a:schemeClr val="bg1"/>
          </a:solidFill>
          <a:ln w="19050">
            <a:solidFill>
              <a:schemeClr val="tx1"/>
            </a:solidFill>
            <a:prstDash val="solid"/>
          </a:ln>
        </p:spPr>
      </p:sp>
      <p:sp>
        <p:nvSpPr>
          <p:cNvPr id="4" name="Text 2"/>
          <p:cNvSpPr txBox="1"/>
          <p:nvPr/>
        </p:nvSpPr>
        <p:spPr>
          <a:xfrm>
            <a:off x="548640" y="14630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step-link"/>
          <p:cNvSpPr/>
          <p:nvPr/>
        </p:nvSpPr>
        <p:spPr>
          <a:xfrm>
            <a:off x="804672" y="2011680"/>
            <a:ext cx="0" cy="329184"/>
          </a:xfrm>
          <a:prstGeom prst="line">
            <a:avLst/>
          </a:prstGeom>
          <a:noFill/>
          <a:ln w="15875">
            <a:solidFill>
              <a:srgbClr val="6F6B98"/>
            </a:solidFill>
            <a:prstDash val="sysDot"/>
          </a:ln>
        </p:spPr>
      </p:sp>
      <p:sp>
        <p:nvSpPr>
          <p:cNvPr id="6" name="Text 4"/>
          <p:cNvSpPr txBox="1"/>
          <p:nvPr/>
        </p:nvSpPr>
        <p:spPr>
          <a:xfrm>
            <a:off x="1261872" y="14447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Pick a cabin</a:t>
            </a:r>
            <a:endParaRPr lang="en-US" sz="1700" dirty="0"/>
          </a:p>
        </p:txBody>
      </p:sp>
      <p:sp>
        <p:nvSpPr>
          <p:cNvPr id="7" name="Text 5"/>
          <p:cNvSpPr txBox="1"/>
          <p:nvPr/>
        </p:nvSpPr>
        <p:spPr>
          <a:xfrm>
            <a:off x="1261872" y="1764792"/>
            <a:ext cx="3840480" cy="502920"/>
          </a:xfrm>
          <a:prstGeom prst="rect">
            <a:avLst/>
          </a:prstGeom>
          <a:noFill/>
          <a:ln/>
        </p:spPr>
        <p:txBody>
          <a:bodyPr wrap="square" lIns="0" tIns="0" rIns="0" bIns="0" rtlCol="0" anchor="t"/>
          <a:lstStyle/>
          <a:p>
            <a:pPr indent="0" marL="0">
              <a:buNone/>
            </a:pPr>
            <a:r>
              <a:rPr lang="en-US" sz="1400" dirty="0">
                <a:solidFill>
                  <a:srgbClr val="6F6B98"/>
                </a:solidFill>
              </a:rPr>
              <a:t>Economy, Business or First, with the live fare and seats left.</a:t>
            </a:r>
            <a:endParaRPr lang="en-US" sz="1400" dirty="0"/>
          </a:p>
        </p:txBody>
      </p:sp>
      <p:sp>
        <p:nvSpPr>
          <p:cNvPr id="8" name="step-dot"/>
          <p:cNvSpPr/>
          <p:nvPr/>
        </p:nvSpPr>
        <p:spPr>
          <a:xfrm>
            <a:off x="548640" y="2377440"/>
            <a:ext cx="512064" cy="512064"/>
          </a:xfrm>
          <a:prstGeom prst="ellipse">
            <a:avLst/>
          </a:prstGeom>
          <a:solidFill>
            <a:schemeClr val="bg1"/>
          </a:solidFill>
          <a:ln w="19050">
            <a:solidFill>
              <a:schemeClr val="tx1"/>
            </a:solidFill>
            <a:prstDash val="solid"/>
          </a:ln>
        </p:spPr>
      </p:sp>
      <p:sp>
        <p:nvSpPr>
          <p:cNvPr id="9" name="Text 7"/>
          <p:cNvSpPr txBox="1"/>
          <p:nvPr/>
        </p:nvSpPr>
        <p:spPr>
          <a:xfrm>
            <a:off x="548640" y="23774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0" name="step-link"/>
          <p:cNvSpPr/>
          <p:nvPr/>
        </p:nvSpPr>
        <p:spPr>
          <a:xfrm>
            <a:off x="804672" y="2926080"/>
            <a:ext cx="0" cy="329184"/>
          </a:xfrm>
          <a:prstGeom prst="line">
            <a:avLst/>
          </a:prstGeom>
          <a:noFill/>
          <a:ln w="15875">
            <a:solidFill>
              <a:srgbClr val="6F6B98"/>
            </a:solidFill>
            <a:prstDash val="sysDot"/>
          </a:ln>
        </p:spPr>
      </p:sp>
      <p:sp>
        <p:nvSpPr>
          <p:cNvPr id="11" name="Text 9"/>
          <p:cNvSpPr txBox="1"/>
          <p:nvPr/>
        </p:nvSpPr>
        <p:spPr>
          <a:xfrm>
            <a:off x="1261872" y="23591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Choose a seat</a:t>
            </a:r>
            <a:endParaRPr lang="en-US" sz="1700" dirty="0"/>
          </a:p>
        </p:txBody>
      </p:sp>
      <p:sp>
        <p:nvSpPr>
          <p:cNvPr id="12" name="Text 10"/>
          <p:cNvSpPr txBox="1"/>
          <p:nvPr/>
        </p:nvSpPr>
        <p:spPr>
          <a:xfrm>
            <a:off x="1261872" y="2679192"/>
            <a:ext cx="3840480" cy="502920"/>
          </a:xfrm>
          <a:prstGeom prst="rect">
            <a:avLst/>
          </a:prstGeom>
          <a:noFill/>
          <a:ln/>
        </p:spPr>
        <p:txBody>
          <a:bodyPr wrap="square" lIns="0" tIns="0" rIns="0" bIns="0" rtlCol="0" anchor="t"/>
          <a:lstStyle/>
          <a:p>
            <a:pPr indent="0" marL="0">
              <a:buNone/>
            </a:pPr>
            <a:r>
              <a:rPr lang="en-US" sz="1400" dirty="0">
                <a:solidFill>
                  <a:srgbClr val="6F6B98"/>
                </a:solidFill>
              </a:rPr>
              <a:t>Tap any free seat in your cabin on the seat map.</a:t>
            </a:r>
            <a:endParaRPr lang="en-US" sz="1400" dirty="0"/>
          </a:p>
        </p:txBody>
      </p:sp>
      <p:sp>
        <p:nvSpPr>
          <p:cNvPr id="13" name="step-dot"/>
          <p:cNvSpPr/>
          <p:nvPr/>
        </p:nvSpPr>
        <p:spPr>
          <a:xfrm>
            <a:off x="548640" y="3291840"/>
            <a:ext cx="512064" cy="512064"/>
          </a:xfrm>
          <a:prstGeom prst="ellipse">
            <a:avLst/>
          </a:prstGeom>
          <a:solidFill>
            <a:schemeClr val="accent2"/>
          </a:solidFill>
          <a:ln w="19050">
            <a:solidFill>
              <a:schemeClr val="tx1"/>
            </a:solidFill>
            <a:prstDash val="solid"/>
          </a:ln>
        </p:spPr>
      </p:sp>
      <p:sp>
        <p:nvSpPr>
          <p:cNvPr id="14" name="Text 12"/>
          <p:cNvSpPr txBox="1"/>
          <p:nvPr/>
        </p:nvSpPr>
        <p:spPr>
          <a:xfrm>
            <a:off x="548640" y="32918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step-link"/>
          <p:cNvSpPr/>
          <p:nvPr/>
        </p:nvSpPr>
        <p:spPr>
          <a:xfrm>
            <a:off x="804672" y="3840480"/>
            <a:ext cx="0" cy="329184"/>
          </a:xfrm>
          <a:prstGeom prst="line">
            <a:avLst/>
          </a:prstGeom>
          <a:noFill/>
          <a:ln w="15875">
            <a:solidFill>
              <a:srgbClr val="6F6B98"/>
            </a:solidFill>
            <a:prstDash val="sysDot"/>
          </a:ln>
        </p:spPr>
      </p:sp>
      <p:sp>
        <p:nvSpPr>
          <p:cNvPr id="16" name="Text 14"/>
          <p:cNvSpPr txBox="1"/>
          <p:nvPr/>
        </p:nvSpPr>
        <p:spPr>
          <a:xfrm>
            <a:off x="1261872" y="32735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Add luggage</a:t>
            </a:r>
            <a:endParaRPr lang="en-US" sz="1700" dirty="0"/>
          </a:p>
        </p:txBody>
      </p:sp>
      <p:sp>
        <p:nvSpPr>
          <p:cNvPr id="17" name="Text 15"/>
          <p:cNvSpPr txBox="1"/>
          <p:nvPr/>
        </p:nvSpPr>
        <p:spPr>
          <a:xfrm>
            <a:off x="1261872" y="3593592"/>
            <a:ext cx="3840480" cy="502920"/>
          </a:xfrm>
          <a:prstGeom prst="rect">
            <a:avLst/>
          </a:prstGeom>
          <a:noFill/>
          <a:ln/>
        </p:spPr>
        <p:txBody>
          <a:bodyPr wrap="square" lIns="0" tIns="0" rIns="0" bIns="0" rtlCol="0" anchor="t"/>
          <a:lstStyle/>
          <a:p>
            <a:pPr indent="0" marL="0">
              <a:buNone/>
            </a:pPr>
            <a:r>
              <a:rPr lang="en-US" sz="1400" dirty="0">
                <a:solidFill>
                  <a:srgbClr val="6F6B98"/>
                </a:solidFill>
              </a:rPr>
              <a:t>Extra checked bags, priced by that airline's own bag rules.</a:t>
            </a:r>
            <a:endParaRPr lang="en-US" sz="1400" dirty="0"/>
          </a:p>
        </p:txBody>
      </p:sp>
      <p:sp>
        <p:nvSpPr>
          <p:cNvPr id="18" name="step-dot"/>
          <p:cNvSpPr/>
          <p:nvPr/>
        </p:nvSpPr>
        <p:spPr>
          <a:xfrm>
            <a:off x="548640" y="4206240"/>
            <a:ext cx="512064" cy="512064"/>
          </a:xfrm>
          <a:prstGeom prst="ellipse">
            <a:avLst/>
          </a:prstGeom>
          <a:solidFill>
            <a:schemeClr val="bg1"/>
          </a:solidFill>
          <a:ln w="19050">
            <a:solidFill>
              <a:schemeClr val="tx1"/>
            </a:solidFill>
            <a:prstDash val="solid"/>
          </a:ln>
        </p:spPr>
      </p:sp>
      <p:sp>
        <p:nvSpPr>
          <p:cNvPr id="19" name="Text 17"/>
          <p:cNvSpPr txBox="1"/>
          <p:nvPr/>
        </p:nvSpPr>
        <p:spPr>
          <a:xfrm>
            <a:off x="548640" y="42062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0" name="step-link"/>
          <p:cNvSpPr/>
          <p:nvPr/>
        </p:nvSpPr>
        <p:spPr>
          <a:xfrm>
            <a:off x="804672" y="4754880"/>
            <a:ext cx="0" cy="329184"/>
          </a:xfrm>
          <a:prstGeom prst="line">
            <a:avLst/>
          </a:prstGeom>
          <a:noFill/>
          <a:ln w="15875">
            <a:solidFill>
              <a:srgbClr val="6F6B98"/>
            </a:solidFill>
            <a:prstDash val="sysDot"/>
          </a:ln>
        </p:spPr>
      </p:sp>
      <p:sp>
        <p:nvSpPr>
          <p:cNvPr id="21" name="Text 19"/>
          <p:cNvSpPr txBox="1"/>
          <p:nvPr/>
        </p:nvSpPr>
        <p:spPr>
          <a:xfrm>
            <a:off x="1261872" y="41879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Add cover</a:t>
            </a:r>
            <a:endParaRPr lang="en-US" sz="1700" dirty="0"/>
          </a:p>
        </p:txBody>
      </p:sp>
      <p:sp>
        <p:nvSpPr>
          <p:cNvPr id="22" name="Text 20"/>
          <p:cNvSpPr txBox="1"/>
          <p:nvPr/>
        </p:nvSpPr>
        <p:spPr>
          <a:xfrm>
            <a:off x="1261872" y="4507992"/>
            <a:ext cx="3840480" cy="502920"/>
          </a:xfrm>
          <a:prstGeom prst="rect">
            <a:avLst/>
          </a:prstGeom>
          <a:noFill/>
          <a:ln/>
        </p:spPr>
        <p:txBody>
          <a:bodyPr wrap="square" lIns="0" tIns="0" rIns="0" bIns="0" rtlCol="0" anchor="t"/>
          <a:lstStyle/>
          <a:p>
            <a:pPr indent="0" marL="0">
              <a:buNone/>
            </a:pPr>
            <a:r>
              <a:rPr lang="en-US" sz="1400" dirty="0">
                <a:solidFill>
                  <a:srgbClr val="6F6B98"/>
                </a:solidFill>
              </a:rPr>
              <a:t>None, your own, Basic Medical or Premium.</a:t>
            </a:r>
            <a:endParaRPr lang="en-US" sz="1400" dirty="0"/>
          </a:p>
        </p:txBody>
      </p:sp>
      <p:sp>
        <p:nvSpPr>
          <p:cNvPr id="23" name="step-dot"/>
          <p:cNvSpPr/>
          <p:nvPr/>
        </p:nvSpPr>
        <p:spPr>
          <a:xfrm>
            <a:off x="548640" y="5120640"/>
            <a:ext cx="512064" cy="512064"/>
          </a:xfrm>
          <a:prstGeom prst="ellipse">
            <a:avLst/>
          </a:prstGeom>
          <a:solidFill>
            <a:schemeClr val="bg1"/>
          </a:solidFill>
          <a:ln w="19050">
            <a:solidFill>
              <a:schemeClr val="tx1"/>
            </a:solidFill>
            <a:prstDash val="solid"/>
          </a:ln>
        </p:spPr>
      </p:sp>
      <p:sp>
        <p:nvSpPr>
          <p:cNvPr id="24" name="Text 22"/>
          <p:cNvSpPr txBox="1"/>
          <p:nvPr/>
        </p:nvSpPr>
        <p:spPr>
          <a:xfrm>
            <a:off x="548640" y="51206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5" name="Text 23"/>
          <p:cNvSpPr txBox="1"/>
          <p:nvPr/>
        </p:nvSpPr>
        <p:spPr>
          <a:xfrm>
            <a:off x="1261872" y="51023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Pay</a:t>
            </a:r>
            <a:endParaRPr lang="en-US" sz="1700" dirty="0"/>
          </a:p>
        </p:txBody>
      </p:sp>
      <p:sp>
        <p:nvSpPr>
          <p:cNvPr id="26" name="Text 24"/>
          <p:cNvSpPr txBox="1"/>
          <p:nvPr/>
        </p:nvSpPr>
        <p:spPr>
          <a:xfrm>
            <a:off x="1261872" y="5422392"/>
            <a:ext cx="3840480" cy="502920"/>
          </a:xfrm>
          <a:prstGeom prst="rect">
            <a:avLst/>
          </a:prstGeom>
          <a:noFill/>
          <a:ln/>
        </p:spPr>
        <p:txBody>
          <a:bodyPr wrap="square" lIns="0" tIns="0" rIns="0" bIns="0" rtlCol="0" anchor="t"/>
          <a:lstStyle/>
          <a:p>
            <a:pPr indent="0" marL="0">
              <a:buNone/>
            </a:pPr>
            <a:r>
              <a:rPr lang="en-US" sz="1400" dirty="0">
                <a:solidFill>
                  <a:srgbClr val="6F6B98"/>
                </a:solidFill>
              </a:rPr>
              <a:t>Card checkout in test mode. The server sets the price.</a:t>
            </a:r>
            <a:endParaRPr lang="en-US" sz="1400" dirty="0"/>
          </a:p>
        </p:txBody>
      </p:sp>
      <p:sp>
        <p:nvSpPr>
          <p:cNvPr id="27" name="shot-shadow"/>
          <p:cNvSpPr/>
          <p:nvPr/>
        </p:nvSpPr>
        <p:spPr>
          <a:xfrm>
            <a:off x="5550408" y="1572768"/>
            <a:ext cx="6126480" cy="3648456"/>
          </a:xfrm>
          <a:prstGeom prst="rect">
            <a:avLst/>
          </a:prstGeom>
          <a:solidFill>
            <a:schemeClr val="tx1"/>
          </a:solidFill>
          <a:ln w="12700">
            <a:solidFill>
              <a:schemeClr val="tx1"/>
            </a:solidFill>
            <a:prstDash val="solid"/>
          </a:ln>
        </p:spPr>
      </p:sp>
      <p:pic>
        <p:nvPicPr>
          <p:cNvPr id="28" name="screenshot" descr="results_c.png">    </p:cNvPr>
          <p:cNvPicPr>
            <a:picLocks noChangeAspect="1"/>
          </p:cNvPicPr>
          <p:nvPr/>
        </p:nvPicPr>
        <p:blipFill>
          <a:blip r:embed="rId1"/>
          <a:stretch>
            <a:fillRect/>
          </a:stretch>
        </p:blipFill>
        <p:spPr>
          <a:xfrm>
            <a:off x="5440680" y="1463040"/>
            <a:ext cx="6126480" cy="3648456"/>
          </a:xfrm>
          <a:prstGeom prst="rect">
            <a:avLst/>
          </a:prstGeom>
        </p:spPr>
      </p:pic>
      <p:sp>
        <p:nvSpPr>
          <p:cNvPr id="29" name="shot-frame"/>
          <p:cNvSpPr/>
          <p:nvPr/>
        </p:nvSpPr>
        <p:spPr>
          <a:xfrm>
            <a:off x="5440680" y="1463040"/>
            <a:ext cx="6126480" cy="3648456"/>
          </a:xfrm>
          <a:prstGeom prst="rect">
            <a:avLst/>
          </a:prstGeom>
          <a:ln w="19050">
            <a:solidFill>
              <a:schemeClr val="tx1"/>
            </a:solidFill>
            <a:prstDash val="solid"/>
          </a:ln>
        </p:spPr>
      </p:sp>
      <p:sp>
        <p:nvSpPr>
          <p:cNvPr id="30" name="Text 27"/>
          <p:cNvSpPr txBox="1"/>
          <p:nvPr/>
        </p:nvSpPr>
        <p:spPr>
          <a:xfrm>
            <a:off x="5440680" y="5349240"/>
            <a:ext cx="6126480" cy="685800"/>
          </a:xfrm>
          <a:prstGeom prst="rect">
            <a:avLst/>
          </a:prstGeom>
          <a:noFill/>
          <a:ln/>
        </p:spPr>
        <p:txBody>
          <a:bodyPr wrap="square" lIns="0" tIns="0" rIns="0" bIns="0" rtlCol="0" anchor="t"/>
          <a:lstStyle/>
          <a:p>
            <a:pPr indent="0" marL="0">
              <a:buNone/>
            </a:pPr>
            <a:r>
              <a:rPr lang="en-US" sz="1300" b="1" dirty="0">
                <a:solidFill>
                  <a:schemeClr val="tx1"/>
                </a:solidFill>
              </a:rPr>
              <a:t>Before step 1: </a:t>
            </a:r>
            <a:pPr indent="0" marL="0">
              <a:buNone/>
            </a:pPr>
            <a:r>
              <a:rPr lang="en-US" sz="1300" dirty="0">
                <a:solidFill>
                  <a:srgbClr val="6F6B98"/>
                </a:solidFill>
              </a:rPr>
              <a:t>search one-way, return (8% off both fares) or multi-city. Four airlines are compared and AirlineRecommender picks the best value for each flight (70% price, 30% seats left).</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Every trip ends in a boarding pass</a:t>
            </a:r>
            <a:endParaRPr lang="en-US" sz="3400" dirty="0"/>
          </a:p>
        </p:txBody>
      </p:sp>
      <p:sp>
        <p:nvSpPr>
          <p:cNvPr id="3" name="shot-shadow"/>
          <p:cNvSpPr/>
          <p:nvPr/>
        </p:nvSpPr>
        <p:spPr>
          <a:xfrm>
            <a:off x="658368" y="1572768"/>
            <a:ext cx="6309360" cy="3986784"/>
          </a:xfrm>
          <a:prstGeom prst="rect">
            <a:avLst/>
          </a:prstGeom>
          <a:solidFill>
            <a:schemeClr val="tx1"/>
          </a:solidFill>
          <a:ln w="12700">
            <a:solidFill>
              <a:schemeClr val="tx1"/>
            </a:solidFill>
            <a:prstDash val="solid"/>
          </a:ln>
        </p:spPr>
      </p:sp>
      <p:pic>
        <p:nvPicPr>
          <p:cNvPr id="4" name="screenshot" descr="pass.png">    </p:cNvPr>
          <p:cNvPicPr>
            <a:picLocks noChangeAspect="1"/>
          </p:cNvPicPr>
          <p:nvPr/>
        </p:nvPicPr>
        <p:blipFill>
          <a:blip r:embed="rId1"/>
          <a:stretch>
            <a:fillRect/>
          </a:stretch>
        </p:blipFill>
        <p:spPr>
          <a:xfrm>
            <a:off x="548640" y="1463040"/>
            <a:ext cx="6309360" cy="3986784"/>
          </a:xfrm>
          <a:prstGeom prst="rect">
            <a:avLst/>
          </a:prstGeom>
        </p:spPr>
      </p:pic>
      <p:sp>
        <p:nvSpPr>
          <p:cNvPr id="5" name="shot-frame"/>
          <p:cNvSpPr/>
          <p:nvPr/>
        </p:nvSpPr>
        <p:spPr>
          <a:xfrm>
            <a:off x="548640" y="1463040"/>
            <a:ext cx="6309360" cy="3986784"/>
          </a:xfrm>
          <a:prstGeom prst="rect">
            <a:avLst/>
          </a:prstGeom>
          <a:ln w="19050">
            <a:solidFill>
              <a:schemeClr val="tx1"/>
            </a:solidFill>
            <a:prstDash val="solid"/>
          </a:ln>
        </p:spPr>
      </p:sp>
      <p:sp>
        <p:nvSpPr>
          <p:cNvPr id="6" name="icon-circle"/>
          <p:cNvSpPr/>
          <p:nvPr/>
        </p:nvSpPr>
        <p:spPr>
          <a:xfrm>
            <a:off x="7269480" y="1508760"/>
            <a:ext cx="566928" cy="566928"/>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2"/>
          <a:stretch>
            <a:fillRect/>
          </a:stretch>
        </p:blipFill>
        <p:spPr>
          <a:xfrm>
            <a:off x="7405543" y="1644823"/>
            <a:ext cx="294803" cy="294803"/>
          </a:xfrm>
          <a:prstGeom prst="rect">
            <a:avLst/>
          </a:prstGeom>
        </p:spPr>
      </p:pic>
      <p:sp>
        <p:nvSpPr>
          <p:cNvPr id="8" name="Text 4"/>
          <p:cNvSpPr txBox="1"/>
          <p:nvPr/>
        </p:nvSpPr>
        <p:spPr>
          <a:xfrm>
            <a:off x="8046720" y="1472184"/>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Check in on your phone</a:t>
            </a:r>
            <a:endParaRPr lang="en-US" sz="1800" dirty="0"/>
          </a:p>
        </p:txBody>
      </p:sp>
      <p:sp>
        <p:nvSpPr>
          <p:cNvPr id="9" name="Text 5"/>
          <p:cNvSpPr txBox="1"/>
          <p:nvPr/>
        </p:nvSpPr>
        <p:spPr>
          <a:xfrm>
            <a:off x="8046720" y="1856232"/>
            <a:ext cx="3566160" cy="868680"/>
          </a:xfrm>
          <a:prstGeom prst="rect">
            <a:avLst/>
          </a:prstGeom>
          <a:noFill/>
          <a:ln/>
        </p:spPr>
        <p:txBody>
          <a:bodyPr wrap="square" lIns="0" tIns="0" rIns="0" bIns="0" rtlCol="0" anchor="t"/>
          <a:lstStyle/>
          <a:p>
            <a:pPr indent="0" marL="0">
              <a:buNone/>
            </a:pPr>
            <a:r>
              <a:rPr lang="en-US" sz="1400" dirty="0">
                <a:solidFill>
                  <a:srgbClr val="6F6B98"/>
                </a:solidFill>
              </a:rPr>
              <a:t>Opens 24h before departure, closes 45 min before. Assigns a boarding group, back rows first.</a:t>
            </a:r>
            <a:endParaRPr lang="en-US" sz="1400" dirty="0"/>
          </a:p>
        </p:txBody>
      </p:sp>
      <p:sp>
        <p:nvSpPr>
          <p:cNvPr id="10" name="icon-circle"/>
          <p:cNvSpPr/>
          <p:nvPr/>
        </p:nvSpPr>
        <p:spPr>
          <a:xfrm>
            <a:off x="7269480" y="2880360"/>
            <a:ext cx="566928" cy="566928"/>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3"/>
          <a:stretch>
            <a:fillRect/>
          </a:stretch>
        </p:blipFill>
        <p:spPr>
          <a:xfrm>
            <a:off x="7405543" y="3016423"/>
            <a:ext cx="294803" cy="294803"/>
          </a:xfrm>
          <a:prstGeom prst="rect">
            <a:avLst/>
          </a:prstGeom>
        </p:spPr>
      </p:pic>
      <p:sp>
        <p:nvSpPr>
          <p:cNvPr id="12" name="Text 7"/>
          <p:cNvSpPr txBox="1"/>
          <p:nvPr/>
        </p:nvSpPr>
        <p:spPr>
          <a:xfrm>
            <a:off x="8046720" y="2843784"/>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Refunds by policy</a:t>
            </a:r>
            <a:endParaRPr lang="en-US" sz="1800" dirty="0"/>
          </a:p>
        </p:txBody>
      </p:sp>
      <p:sp>
        <p:nvSpPr>
          <p:cNvPr id="13" name="Text 8"/>
          <p:cNvSpPr txBox="1"/>
          <p:nvPr/>
        </p:nvSpPr>
        <p:spPr>
          <a:xfrm>
            <a:off x="8046720" y="3227832"/>
            <a:ext cx="3566160" cy="868680"/>
          </a:xfrm>
          <a:prstGeom prst="rect">
            <a:avLst/>
          </a:prstGeom>
          <a:noFill/>
          <a:ln/>
        </p:spPr>
        <p:txBody>
          <a:bodyPr wrap="square" lIns="0" tIns="0" rIns="0" bIns="0" rtlCol="0" anchor="t"/>
          <a:lstStyle/>
          <a:p>
            <a:pPr indent="0" marL="0">
              <a:buNone/>
            </a:pPr>
            <a:r>
              <a:rPr lang="en-US" sz="1400" dirty="0">
                <a:solidFill>
                  <a:srgbClr val="6F6B98"/>
                </a:solidFill>
              </a:rPr>
              <a:t>Over 72h: 90% of fare. 24–72h: 50%. Under 24h: none. Premium cover or airline cancellation: full.</a:t>
            </a:r>
            <a:endParaRPr lang="en-US" sz="1400" dirty="0"/>
          </a:p>
        </p:txBody>
      </p:sp>
      <p:sp>
        <p:nvSpPr>
          <p:cNvPr id="14" name="icon-circle"/>
          <p:cNvSpPr/>
          <p:nvPr/>
        </p:nvSpPr>
        <p:spPr>
          <a:xfrm>
            <a:off x="7269480" y="4251960"/>
            <a:ext cx="566928" cy="566928"/>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4"/>
          <a:stretch>
            <a:fillRect/>
          </a:stretch>
        </p:blipFill>
        <p:spPr>
          <a:xfrm>
            <a:off x="7405543" y="4388023"/>
            <a:ext cx="294803" cy="294803"/>
          </a:xfrm>
          <a:prstGeom prst="rect">
            <a:avLst/>
          </a:prstGeom>
        </p:spPr>
      </p:pic>
      <p:sp>
        <p:nvSpPr>
          <p:cNvPr id="16" name="Text 10"/>
          <p:cNvSpPr txBox="1"/>
          <p:nvPr/>
        </p:nvSpPr>
        <p:spPr>
          <a:xfrm>
            <a:off x="8046720" y="4215384"/>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Miles that mean distance</a:t>
            </a:r>
            <a:endParaRPr lang="en-US" sz="1800" dirty="0"/>
          </a:p>
        </p:txBody>
      </p:sp>
      <p:sp>
        <p:nvSpPr>
          <p:cNvPr id="17" name="Text 11"/>
          <p:cNvSpPr txBox="1"/>
          <p:nvPr/>
        </p:nvSpPr>
        <p:spPr>
          <a:xfrm>
            <a:off x="8046720" y="4599432"/>
            <a:ext cx="3566160" cy="868680"/>
          </a:xfrm>
          <a:prstGeom prst="rect">
            <a:avLst/>
          </a:prstGeom>
          <a:noFill/>
          <a:ln/>
        </p:spPr>
        <p:txBody>
          <a:bodyPr wrap="square" lIns="0" tIns="0" rIns="0" bIns="0" rtlCol="0" anchor="t"/>
          <a:lstStyle/>
          <a:p>
            <a:pPr indent="0" marL="0">
              <a:buNone/>
            </a:pPr>
            <a:r>
              <a:rPr lang="en-US" sz="1400" dirty="0">
                <a:solidFill>
                  <a:srgbClr val="6F6B98"/>
                </a:solidFill>
              </a:rPr>
              <a:t>Kilometres flown × cabin bonus × tier bonus. Blue, Silver, Gold, Platinum.</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The ops console shows the airline's health at a glance</a:t>
            </a:r>
            <a:endParaRPr lang="en-US" sz="3400" dirty="0"/>
          </a:p>
        </p:txBody>
      </p:sp>
      <p:sp>
        <p:nvSpPr>
          <p:cNvPr id="3" name="shot-shadow"/>
          <p:cNvSpPr/>
          <p:nvPr/>
        </p:nvSpPr>
        <p:spPr>
          <a:xfrm>
            <a:off x="658368" y="1572768"/>
            <a:ext cx="6675120" cy="4224528"/>
          </a:xfrm>
          <a:prstGeom prst="rect">
            <a:avLst/>
          </a:prstGeom>
          <a:solidFill>
            <a:schemeClr val="tx1"/>
          </a:solidFill>
          <a:ln w="12700">
            <a:solidFill>
              <a:schemeClr val="tx1"/>
            </a:solidFill>
            <a:prstDash val="solid"/>
          </a:ln>
        </p:spPr>
      </p:sp>
      <p:pic>
        <p:nvPicPr>
          <p:cNvPr id="4" name="screenshot" descr="admin.png">    </p:cNvPr>
          <p:cNvPicPr>
            <a:picLocks noChangeAspect="1"/>
          </p:cNvPicPr>
          <p:nvPr/>
        </p:nvPicPr>
        <p:blipFill>
          <a:blip r:embed="rId1"/>
          <a:stretch>
            <a:fillRect/>
          </a:stretch>
        </p:blipFill>
        <p:spPr>
          <a:xfrm>
            <a:off x="548640" y="1463040"/>
            <a:ext cx="6675120" cy="4224528"/>
          </a:xfrm>
          <a:prstGeom prst="rect">
            <a:avLst/>
          </a:prstGeom>
        </p:spPr>
      </p:pic>
      <p:sp>
        <p:nvSpPr>
          <p:cNvPr id="5" name="shot-frame"/>
          <p:cNvSpPr/>
          <p:nvPr/>
        </p:nvSpPr>
        <p:spPr>
          <a:xfrm>
            <a:off x="548640" y="1463040"/>
            <a:ext cx="6675120" cy="4224528"/>
          </a:xfrm>
          <a:prstGeom prst="rect">
            <a:avLst/>
          </a:prstGeom>
          <a:ln w="19050">
            <a:solidFill>
              <a:schemeClr val="tx1"/>
            </a:solidFill>
            <a:prstDash val="solid"/>
          </a:ln>
        </p:spPr>
      </p:sp>
      <p:sp>
        <p:nvSpPr>
          <p:cNvPr id="6" name="Text 3"/>
          <p:cNvSpPr txBox="1"/>
          <p:nvPr/>
        </p:nvSpPr>
        <p:spPr>
          <a:xfrm>
            <a:off x="7635240" y="1463040"/>
            <a:ext cx="4023360" cy="566928"/>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₦967M</a:t>
            </a:r>
            <a:endParaRPr lang="en-US" sz="3600" dirty="0"/>
          </a:p>
        </p:txBody>
      </p:sp>
      <p:sp>
        <p:nvSpPr>
          <p:cNvPr id="7" name="Text 4"/>
          <p:cNvSpPr txBox="1"/>
          <p:nvPr/>
        </p:nvSpPr>
        <p:spPr>
          <a:xfrm>
            <a:off x="7635240" y="2029968"/>
            <a:ext cx="4023360" cy="347472"/>
          </a:xfrm>
          <a:prstGeom prst="rect">
            <a:avLst/>
          </a:prstGeom>
          <a:noFill/>
          <a:ln/>
        </p:spPr>
        <p:txBody>
          <a:bodyPr wrap="square" lIns="0" tIns="0" rIns="0" bIns="0" rtlCol="0" anchor="ctr"/>
          <a:lstStyle/>
          <a:p>
            <a:pPr indent="0" marL="0">
              <a:buNone/>
            </a:pPr>
            <a:r>
              <a:rPr lang="en-US" sz="1400" dirty="0">
                <a:solidFill>
                  <a:srgbClr val="6F6B98"/>
                </a:solidFill>
              </a:rPr>
              <a:t>net revenue, last 30 days</a:t>
            </a:r>
            <a:endParaRPr lang="en-US" sz="1400" dirty="0"/>
          </a:p>
        </p:txBody>
      </p:sp>
      <p:sp>
        <p:nvSpPr>
          <p:cNvPr id="8" name="Text 5"/>
          <p:cNvSpPr txBox="1"/>
          <p:nvPr/>
        </p:nvSpPr>
        <p:spPr>
          <a:xfrm>
            <a:off x="7635240" y="2542032"/>
            <a:ext cx="4023360" cy="566928"/>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70.4%</a:t>
            </a:r>
            <a:endParaRPr lang="en-US" sz="3600" dirty="0"/>
          </a:p>
        </p:txBody>
      </p:sp>
      <p:sp>
        <p:nvSpPr>
          <p:cNvPr id="9" name="Text 6"/>
          <p:cNvSpPr txBox="1"/>
          <p:nvPr/>
        </p:nvSpPr>
        <p:spPr>
          <a:xfrm>
            <a:off x="7635240" y="3108960"/>
            <a:ext cx="4023360" cy="347472"/>
          </a:xfrm>
          <a:prstGeom prst="rect">
            <a:avLst/>
          </a:prstGeom>
          <a:noFill/>
          <a:ln/>
        </p:spPr>
        <p:txBody>
          <a:bodyPr wrap="square" lIns="0" tIns="0" rIns="0" bIns="0" rtlCol="0" anchor="ctr"/>
          <a:lstStyle/>
          <a:p>
            <a:pPr indent="0" marL="0">
              <a:buNone/>
            </a:pPr>
            <a:r>
              <a:rPr lang="en-US" sz="1400" dirty="0">
                <a:solidFill>
                  <a:srgbClr val="6F6B98"/>
                </a:solidFill>
              </a:rPr>
              <a:t>load factor (seats sold ÷ seats flown)</a:t>
            </a:r>
            <a:endParaRPr lang="en-US" sz="1400" dirty="0"/>
          </a:p>
        </p:txBody>
      </p:sp>
      <p:sp>
        <p:nvSpPr>
          <p:cNvPr id="10" name="Text 7"/>
          <p:cNvSpPr txBox="1"/>
          <p:nvPr/>
        </p:nvSpPr>
        <p:spPr>
          <a:xfrm>
            <a:off x="7635240" y="3621024"/>
            <a:ext cx="4023360" cy="566928"/>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88%</a:t>
            </a:r>
            <a:endParaRPr lang="en-US" sz="3600" dirty="0"/>
          </a:p>
        </p:txBody>
      </p:sp>
      <p:sp>
        <p:nvSpPr>
          <p:cNvPr id="11" name="Text 8"/>
          <p:cNvSpPr txBox="1"/>
          <p:nvPr/>
        </p:nvSpPr>
        <p:spPr>
          <a:xfrm>
            <a:off x="7635240" y="4187952"/>
            <a:ext cx="4023360" cy="347472"/>
          </a:xfrm>
          <a:prstGeom prst="rect">
            <a:avLst/>
          </a:prstGeom>
          <a:noFill/>
          <a:ln/>
        </p:spPr>
        <p:txBody>
          <a:bodyPr wrap="square" lIns="0" tIns="0" rIns="0" bIns="0" rtlCol="0" anchor="ctr"/>
          <a:lstStyle/>
          <a:p>
            <a:pPr indent="0" marL="0">
              <a:buNone/>
            </a:pPr>
            <a:r>
              <a:rPr lang="en-US" sz="1400" dirty="0">
                <a:solidFill>
                  <a:srgbClr val="6F6B98"/>
                </a:solidFill>
              </a:rPr>
              <a:t>departures within 15 min of schedule</a:t>
            </a:r>
            <a:endParaRPr lang="en-US" sz="1400" dirty="0"/>
          </a:p>
        </p:txBody>
      </p:sp>
      <p:sp>
        <p:nvSpPr>
          <p:cNvPr id="12" name="Text 9"/>
          <p:cNvSpPr txBox="1"/>
          <p:nvPr/>
        </p:nvSpPr>
        <p:spPr>
          <a:xfrm>
            <a:off x="7635240" y="4700016"/>
            <a:ext cx="4023360" cy="566928"/>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₦170</a:t>
            </a:r>
            <a:endParaRPr lang="en-US" sz="3600" dirty="0"/>
          </a:p>
        </p:txBody>
      </p:sp>
      <p:sp>
        <p:nvSpPr>
          <p:cNvPr id="13" name="Text 10"/>
          <p:cNvSpPr txBox="1"/>
          <p:nvPr/>
        </p:nvSpPr>
        <p:spPr>
          <a:xfrm>
            <a:off x="7635240" y="5266944"/>
            <a:ext cx="4023360" cy="347472"/>
          </a:xfrm>
          <a:prstGeom prst="rect">
            <a:avLst/>
          </a:prstGeom>
          <a:noFill/>
          <a:ln/>
        </p:spPr>
        <p:txBody>
          <a:bodyPr wrap="square" lIns="0" tIns="0" rIns="0" bIns="0" rtlCol="0" anchor="ctr"/>
          <a:lstStyle/>
          <a:p>
            <a:pPr indent="0" marL="0">
              <a:buNone/>
            </a:pPr>
            <a:r>
              <a:rPr lang="en-US" sz="1400" dirty="0">
                <a:solidFill>
                  <a:srgbClr val="6F6B98"/>
                </a:solidFill>
              </a:rPr>
              <a:t>revenue per available seat-km (RASK)</a:t>
            </a:r>
            <a:endParaRPr lang="en-US" sz="1400" dirty="0"/>
          </a:p>
        </p:txBody>
      </p:sp>
      <p:sp>
        <p:nvSpPr>
          <p:cNvPr id="14" name="Text 11"/>
          <p:cNvSpPr txBox="1"/>
          <p:nvPr/>
        </p:nvSpPr>
        <p:spPr>
          <a:xfrm>
            <a:off x="548640" y="5852160"/>
            <a:ext cx="6675120" cy="320040"/>
          </a:xfrm>
          <a:prstGeom prst="rect">
            <a:avLst/>
          </a:prstGeom>
          <a:noFill/>
          <a:ln/>
        </p:spPr>
        <p:txBody>
          <a:bodyPr wrap="square" lIns="0" tIns="0" rIns="0" bIns="0" rtlCol="0" anchor="ctr"/>
          <a:lstStyle/>
          <a:p>
            <a:pPr indent="0" marL="0">
              <a:buNone/>
            </a:pPr>
            <a:r>
              <a:rPr lang="en-US" sz="1100" dirty="0">
                <a:solidFill>
                  <a:srgbClr val="6F6B98"/>
                </a:solidFill>
              </a:rPr>
              <a:t>Figures from the seeded demo data: 3,500 passengers, 282 flights, 17,000+ bookings.</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Four layers around one domain model</a:t>
            </a:r>
            <a:endParaRPr lang="en-US" sz="3400" dirty="0"/>
          </a:p>
        </p:txBody>
      </p:sp>
      <p:sp>
        <p:nvSpPr>
          <p:cNvPr id="3" name="layer-browser"/>
          <p:cNvSpPr/>
          <p:nvPr/>
        </p:nvSpPr>
        <p:spPr>
          <a:xfrm>
            <a:off x="548640" y="1417320"/>
            <a:ext cx="8412480" cy="713232"/>
          </a:xfrm>
          <a:prstGeom prst="roundRect">
            <a:avLst>
              <a:gd name="adj" fmla="val 17949"/>
            </a:avLst>
          </a:prstGeom>
          <a:solidFill>
            <a:schemeClr val="bg1"/>
          </a:solidFill>
          <a:ln w="15875">
            <a:solidFill>
              <a:schemeClr val="tx1"/>
            </a:solidFill>
            <a:prstDash val="solid"/>
          </a:ln>
        </p:spPr>
      </p:sp>
      <p:sp>
        <p:nvSpPr>
          <p:cNvPr id="4" name="Text 2"/>
          <p:cNvSpPr txBox="1"/>
          <p:nvPr/>
        </p:nvSpPr>
        <p:spPr>
          <a:xfrm>
            <a:off x="777240" y="1417320"/>
            <a:ext cx="8046720" cy="713232"/>
          </a:xfrm>
          <a:prstGeom prst="rect">
            <a:avLst/>
          </a:prstGeom>
          <a:noFill/>
          <a:ln/>
        </p:spPr>
        <p:txBody>
          <a:bodyPr wrap="square" lIns="0" tIns="0" rIns="0" bIns="0" rtlCol="0" anchor="ctr"/>
          <a:lstStyle/>
          <a:p>
            <a:pPr indent="0" marL="0">
              <a:buNone/>
            </a:pPr>
            <a:r>
              <a:rPr lang="en-US" sz="1600" b="1" dirty="0">
                <a:solidFill>
                  <a:schemeClr val="tx1"/>
                </a:solidFill>
              </a:rPr>
              <a:t>Browser</a:t>
            </a:r>
            <a:endParaRPr lang="en-US" sz="1600" dirty="0"/>
          </a:p>
          <a:p>
            <a:pPr indent="0" marL="0">
              <a:buNone/>
            </a:pPr>
            <a:r>
              <a:rPr lang="en-US" sz="1300" dirty="0">
                <a:solidFill>
                  <a:schemeClr val="tx1"/>
                </a:solidFill>
              </a:rPr>
              <a:t>HTML pages + JS classes: BookingFlow, SeatMap, TimeChart, RouteMap</a:t>
            </a:r>
            <a:endParaRPr lang="en-US" sz="1600" dirty="0"/>
          </a:p>
        </p:txBody>
      </p:sp>
      <p:sp>
        <p:nvSpPr>
          <p:cNvPr id="5" name="layer-web"/>
          <p:cNvSpPr/>
          <p:nvPr/>
        </p:nvSpPr>
        <p:spPr>
          <a:xfrm>
            <a:off x="548640" y="2331720"/>
            <a:ext cx="8412480" cy="713232"/>
          </a:xfrm>
          <a:prstGeom prst="roundRect">
            <a:avLst>
              <a:gd name="adj" fmla="val 17949"/>
            </a:avLst>
          </a:prstGeom>
          <a:solidFill>
            <a:schemeClr val="bg1"/>
          </a:solidFill>
          <a:ln w="15875">
            <a:solidFill>
              <a:schemeClr val="tx1"/>
            </a:solidFill>
            <a:prstDash val="solid"/>
          </a:ln>
        </p:spPr>
      </p:sp>
      <p:sp>
        <p:nvSpPr>
          <p:cNvPr id="6" name="Text 4"/>
          <p:cNvSpPr txBox="1"/>
          <p:nvPr/>
        </p:nvSpPr>
        <p:spPr>
          <a:xfrm>
            <a:off x="777240" y="2331720"/>
            <a:ext cx="8046720" cy="713232"/>
          </a:xfrm>
          <a:prstGeom prst="rect">
            <a:avLst/>
          </a:prstGeom>
          <a:noFill/>
          <a:ln/>
        </p:spPr>
        <p:txBody>
          <a:bodyPr wrap="square" lIns="0" tIns="0" rIns="0" bIns="0" rtlCol="0" anchor="ctr"/>
          <a:lstStyle/>
          <a:p>
            <a:pPr indent="0" marL="0">
              <a:buNone/>
            </a:pPr>
            <a:r>
              <a:rPr lang="en-US" sz="1600" b="1" dirty="0">
                <a:solidFill>
                  <a:schemeClr val="tx1"/>
                </a:solidFill>
              </a:rPr>
              <a:t>Flask web layer</a:t>
            </a:r>
            <a:endParaRPr lang="en-US" sz="1600" dirty="0"/>
          </a:p>
          <a:p>
            <a:pPr indent="0" marL="0">
              <a:buNone/>
            </a:pPr>
            <a:r>
              <a:rPr lang="en-US" sz="1300" dirty="0">
                <a:solidFill>
                  <a:schemeClr val="tx1"/>
                </a:solidFill>
              </a:rPr>
              <a:t>FlyteApp factory, class-based views (BaseView → JsonView), Auth, CSRFGuard</a:t>
            </a:r>
            <a:endParaRPr lang="en-US" sz="1600" dirty="0"/>
          </a:p>
        </p:txBody>
      </p:sp>
      <p:sp>
        <p:nvSpPr>
          <p:cNvPr id="7" name="layer-system"/>
          <p:cNvSpPr/>
          <p:nvPr/>
        </p:nvSpPr>
        <p:spPr>
          <a:xfrm>
            <a:off x="548640" y="3246120"/>
            <a:ext cx="8412480" cy="713232"/>
          </a:xfrm>
          <a:prstGeom prst="roundRect">
            <a:avLst>
              <a:gd name="adj" fmla="val 17949"/>
            </a:avLst>
          </a:prstGeom>
          <a:solidFill>
            <a:schemeClr val="accent2"/>
          </a:solidFill>
          <a:ln w="15875">
            <a:solidFill>
              <a:schemeClr val="tx1"/>
            </a:solidFill>
            <a:prstDash val="solid"/>
          </a:ln>
        </p:spPr>
      </p:sp>
      <p:sp>
        <p:nvSpPr>
          <p:cNvPr id="8" name="Text 6"/>
          <p:cNvSpPr txBox="1"/>
          <p:nvPr/>
        </p:nvSpPr>
        <p:spPr>
          <a:xfrm>
            <a:off x="777240" y="3246120"/>
            <a:ext cx="8046720" cy="713232"/>
          </a:xfrm>
          <a:prstGeom prst="rect">
            <a:avLst/>
          </a:prstGeom>
          <a:noFill/>
          <a:ln/>
        </p:spPr>
        <p:txBody>
          <a:bodyPr wrap="square" lIns="0" tIns="0" rIns="0" bIns="0" rtlCol="0" anchor="ctr"/>
          <a:lstStyle/>
          <a:p>
            <a:pPr indent="0" marL="0">
              <a:buNone/>
            </a:pPr>
            <a:r>
              <a:rPr lang="en-US" sz="1600" b="1" dirty="0">
                <a:solidFill>
                  <a:schemeClr val="tx1"/>
                </a:solidFill>
              </a:rPr>
              <a:t>AirlineSystem</a:t>
            </a:r>
            <a:endParaRPr lang="en-US" sz="1600" dirty="0"/>
          </a:p>
          <a:p>
            <a:pPr indent="0" marL="0">
              <a:buNone/>
            </a:pPr>
            <a:r>
              <a:rPr lang="en-US" sz="1300" dirty="0">
                <a:solidFill>
                  <a:schemeClr val="tx1"/>
                </a:solidFill>
              </a:rPr>
              <a:t>The original service class: flights, passengers, bookings, check-in, refunds</a:t>
            </a:r>
            <a:endParaRPr lang="en-US" sz="1600" dirty="0"/>
          </a:p>
        </p:txBody>
      </p:sp>
      <p:sp>
        <p:nvSpPr>
          <p:cNvPr id="9" name="layer-Models"/>
          <p:cNvSpPr/>
          <p:nvPr/>
        </p:nvSpPr>
        <p:spPr>
          <a:xfrm>
            <a:off x="548640" y="4160520"/>
            <a:ext cx="2743200" cy="960120"/>
          </a:xfrm>
          <a:prstGeom prst="roundRect">
            <a:avLst>
              <a:gd name="adj" fmla="val 13333"/>
            </a:avLst>
          </a:prstGeom>
          <a:solidFill>
            <a:schemeClr val="bg1"/>
          </a:solidFill>
          <a:ln w="15875">
            <a:solidFill>
              <a:schemeClr val="tx1"/>
            </a:solidFill>
            <a:prstDash val="solid"/>
          </a:ln>
        </p:spPr>
      </p:sp>
      <p:sp>
        <p:nvSpPr>
          <p:cNvPr id="10" name="Text 8"/>
          <p:cNvSpPr txBox="1"/>
          <p:nvPr/>
        </p:nvSpPr>
        <p:spPr>
          <a:xfrm>
            <a:off x="685800" y="4160520"/>
            <a:ext cx="2514600" cy="960120"/>
          </a:xfrm>
          <a:prstGeom prst="rect">
            <a:avLst/>
          </a:prstGeom>
          <a:noFill/>
          <a:ln/>
        </p:spPr>
        <p:txBody>
          <a:bodyPr wrap="square" lIns="0" tIns="0" rIns="0" bIns="0" rtlCol="0" anchor="ctr"/>
          <a:lstStyle/>
          <a:p>
            <a:pPr indent="0" marL="0">
              <a:buNone/>
            </a:pPr>
            <a:r>
              <a:rPr lang="en-US" sz="1500" b="1" dirty="0">
                <a:solidFill>
                  <a:schemeClr val="tx1"/>
                </a:solidFill>
              </a:rPr>
              <a:t>Models</a:t>
            </a:r>
            <a:endParaRPr lang="en-US" sz="1500" dirty="0"/>
          </a:p>
          <a:p>
            <a:pPr indent="0" marL="0">
              <a:buNone/>
            </a:pPr>
            <a:r>
              <a:rPr lang="en-US" sz="1200" dirty="0">
                <a:solidFill>
                  <a:schemeClr val="tx1"/>
                </a:solidFill>
              </a:rPr>
              <a:t>Passenger, Flight, Booking, Itinerary, Airline, BaggagePolicy, User</a:t>
            </a:r>
            <a:endParaRPr lang="en-US" sz="1500" dirty="0"/>
          </a:p>
        </p:txBody>
      </p:sp>
      <p:sp>
        <p:nvSpPr>
          <p:cNvPr id="11" name="layer-Services"/>
          <p:cNvSpPr/>
          <p:nvPr/>
        </p:nvSpPr>
        <p:spPr>
          <a:xfrm>
            <a:off x="3383280" y="4160520"/>
            <a:ext cx="2743200" cy="960120"/>
          </a:xfrm>
          <a:prstGeom prst="roundRect">
            <a:avLst>
              <a:gd name="adj" fmla="val 13333"/>
            </a:avLst>
          </a:prstGeom>
          <a:solidFill>
            <a:schemeClr val="bg1"/>
          </a:solidFill>
          <a:ln w="15875">
            <a:solidFill>
              <a:schemeClr val="tx1"/>
            </a:solidFill>
            <a:prstDash val="solid"/>
          </a:ln>
        </p:spPr>
      </p:sp>
      <p:sp>
        <p:nvSpPr>
          <p:cNvPr id="12" name="Text 10"/>
          <p:cNvSpPr txBox="1"/>
          <p:nvPr/>
        </p:nvSpPr>
        <p:spPr>
          <a:xfrm>
            <a:off x="3520440" y="4160520"/>
            <a:ext cx="2514600" cy="960120"/>
          </a:xfrm>
          <a:prstGeom prst="rect">
            <a:avLst/>
          </a:prstGeom>
          <a:noFill/>
          <a:ln/>
        </p:spPr>
        <p:txBody>
          <a:bodyPr wrap="square" lIns="0" tIns="0" rIns="0" bIns="0" rtlCol="0" anchor="ctr"/>
          <a:lstStyle/>
          <a:p>
            <a:pPr indent="0" marL="0">
              <a:buNone/>
            </a:pPr>
            <a:r>
              <a:rPr lang="en-US" sz="1500" b="1" dirty="0">
                <a:solidFill>
                  <a:schemeClr val="tx1"/>
                </a:solidFill>
              </a:rPr>
              <a:t>Services</a:t>
            </a:r>
            <a:endParaRPr lang="en-US" sz="1500" dirty="0"/>
          </a:p>
          <a:p>
            <a:pPr indent="0" marL="0">
              <a:buNone/>
            </a:pPr>
            <a:r>
              <a:rPr lang="en-US" sz="1200" dirty="0">
                <a:solidFill>
                  <a:schemeClr val="tx1"/>
                </a:solidFill>
              </a:rPr>
              <a:t>PricingEngine, ItineraryPlanner, AirlineRecommender, RefundPolicy, PaymentGateway</a:t>
            </a:r>
            <a:endParaRPr lang="en-US" sz="1500" dirty="0"/>
          </a:p>
        </p:txBody>
      </p:sp>
      <p:sp>
        <p:nvSpPr>
          <p:cNvPr id="13" name="layer-Analytics"/>
          <p:cNvSpPr/>
          <p:nvPr/>
        </p:nvSpPr>
        <p:spPr>
          <a:xfrm>
            <a:off x="6217920" y="4160520"/>
            <a:ext cx="2743200" cy="960120"/>
          </a:xfrm>
          <a:prstGeom prst="roundRect">
            <a:avLst>
              <a:gd name="adj" fmla="val 13333"/>
            </a:avLst>
          </a:prstGeom>
          <a:solidFill>
            <a:schemeClr val="bg1"/>
          </a:solidFill>
          <a:ln w="15875">
            <a:solidFill>
              <a:schemeClr val="tx1"/>
            </a:solidFill>
            <a:prstDash val="solid"/>
          </a:ln>
        </p:spPr>
      </p:sp>
      <p:sp>
        <p:nvSpPr>
          <p:cNvPr id="14" name="Text 12"/>
          <p:cNvSpPr txBox="1"/>
          <p:nvPr/>
        </p:nvSpPr>
        <p:spPr>
          <a:xfrm>
            <a:off x="6355080" y="4160520"/>
            <a:ext cx="2514600" cy="960120"/>
          </a:xfrm>
          <a:prstGeom prst="rect">
            <a:avLst/>
          </a:prstGeom>
          <a:noFill/>
          <a:ln/>
        </p:spPr>
        <p:txBody>
          <a:bodyPr wrap="square" lIns="0" tIns="0" rIns="0" bIns="0" rtlCol="0" anchor="ctr"/>
          <a:lstStyle/>
          <a:p>
            <a:pPr indent="0" marL="0">
              <a:buNone/>
            </a:pPr>
            <a:r>
              <a:rPr lang="en-US" sz="1500" b="1" dirty="0">
                <a:solidFill>
                  <a:schemeClr val="tx1"/>
                </a:solidFill>
              </a:rPr>
              <a:t>Analytics</a:t>
            </a:r>
            <a:endParaRPr lang="en-US" sz="1500" dirty="0"/>
          </a:p>
          <a:p>
            <a:pPr indent="0" marL="0">
              <a:buNone/>
            </a:pPr>
            <a:r>
              <a:rPr lang="en-US" sz="1200" dirty="0">
                <a:solidFill>
                  <a:schemeClr val="tx1"/>
                </a:solidFill>
              </a:rPr>
              <a:t>AnalyticsEngine, Forecaster, KMeans</a:t>
            </a:r>
            <a:endParaRPr lang="en-US" sz="1500" dirty="0"/>
          </a:p>
        </p:txBody>
      </p:sp>
      <p:sp>
        <p:nvSpPr>
          <p:cNvPr id="15" name="layer-storage"/>
          <p:cNvSpPr/>
          <p:nvPr/>
        </p:nvSpPr>
        <p:spPr>
          <a:xfrm>
            <a:off x="548640" y="5321808"/>
            <a:ext cx="8412480" cy="658368"/>
          </a:xfrm>
          <a:prstGeom prst="roundRect">
            <a:avLst>
              <a:gd name="adj" fmla="val 19444"/>
            </a:avLst>
          </a:prstGeom>
          <a:solidFill>
            <a:schemeClr val="tx1"/>
          </a:solidFill>
          <a:ln w="15875">
            <a:solidFill>
              <a:schemeClr val="tx1"/>
            </a:solidFill>
            <a:prstDash val="solid"/>
          </a:ln>
        </p:spPr>
      </p:sp>
      <p:sp>
        <p:nvSpPr>
          <p:cNvPr id="16" name="Text 14"/>
          <p:cNvSpPr txBox="1"/>
          <p:nvPr/>
        </p:nvSpPr>
        <p:spPr>
          <a:xfrm>
            <a:off x="777240" y="5321808"/>
            <a:ext cx="8046720" cy="658368"/>
          </a:xfrm>
          <a:prstGeom prst="rect">
            <a:avLst/>
          </a:prstGeom>
          <a:noFill/>
          <a:ln/>
        </p:spPr>
        <p:txBody>
          <a:bodyPr wrap="square" lIns="0" tIns="0" rIns="0" bIns="0" rtlCol="0" anchor="ctr"/>
          <a:lstStyle/>
          <a:p>
            <a:pPr indent="0" marL="0">
              <a:buNone/>
            </a:pPr>
            <a:r>
              <a:rPr lang="en-US" sz="1600" b="1" dirty="0">
                <a:solidFill>
                  <a:schemeClr val="bg1"/>
                </a:solidFill>
              </a:rPr>
              <a:t>StorageBackend</a:t>
            </a:r>
            <a:endParaRPr lang="en-US" sz="1600" dirty="0"/>
          </a:p>
          <a:p>
            <a:pPr indent="0" marL="0">
              <a:buNone/>
            </a:pPr>
            <a:r>
              <a:rPr lang="en-US" sz="1300" dirty="0">
                <a:solidFill>
                  <a:schemeClr val="bg1"/>
                </a:solidFill>
              </a:rPr>
              <a:t>SqliteStorage (web) or JsonStorage (console's original format)</a:t>
            </a:r>
            <a:endParaRPr lang="en-US" sz="1600" dirty="0"/>
          </a:p>
        </p:txBody>
      </p:sp>
      <p:sp>
        <p:nvSpPr>
          <p:cNvPr id="17" name="console-card"/>
          <p:cNvSpPr/>
          <p:nvPr/>
        </p:nvSpPr>
        <p:spPr>
          <a:xfrm>
            <a:off x="9281160" y="1417320"/>
            <a:ext cx="2331720" cy="4562856"/>
          </a:xfrm>
          <a:prstGeom prst="roundRect">
            <a:avLst>
              <a:gd name="adj" fmla="val 7059"/>
            </a:avLst>
          </a:prstGeom>
          <a:solidFill>
            <a:schemeClr val="bg1"/>
          </a:solidFill>
          <a:ln w="12700">
            <a:solidFill>
              <a:srgbClr val="D6D8F3"/>
            </a:solidFill>
            <a:prstDash val="solid"/>
          </a:ln>
        </p:spPr>
      </p:sp>
      <p:pic>
        <p:nvPicPr>
          <p:cNvPr id="18" name="terminal-icon" descr="preencoded.png">    </p:cNvPr>
          <p:cNvPicPr>
            <a:picLocks noChangeAspect="1"/>
          </p:cNvPicPr>
          <p:nvPr/>
        </p:nvPicPr>
        <p:blipFill>
          <a:blip r:embed="rId1"/>
          <a:stretch>
            <a:fillRect/>
          </a:stretch>
        </p:blipFill>
        <p:spPr>
          <a:xfrm>
            <a:off x="9555480" y="1691640"/>
            <a:ext cx="457200" cy="457200"/>
          </a:xfrm>
          <a:prstGeom prst="rect">
            <a:avLst/>
          </a:prstGeom>
        </p:spPr>
      </p:pic>
      <p:sp>
        <p:nvSpPr>
          <p:cNvPr id="19" name="Text 16"/>
          <p:cNvSpPr txBox="1"/>
          <p:nvPr/>
        </p:nvSpPr>
        <p:spPr>
          <a:xfrm>
            <a:off x="9555480" y="2286000"/>
            <a:ext cx="1874520" cy="3474720"/>
          </a:xfrm>
          <a:prstGeom prst="rect">
            <a:avLst/>
          </a:prstGeom>
          <a:noFill/>
          <a:ln/>
        </p:spPr>
        <p:txBody>
          <a:bodyPr wrap="square" lIns="0" tIns="0" rIns="0" bIns="0" rtlCol="0" anchor="t"/>
          <a:lstStyle/>
          <a:p>
            <a:pPr indent="0" marL="0">
              <a:buNone/>
            </a:pPr>
            <a:r>
              <a:rPr lang="en-US" sz="1600" b="1" dirty="0">
                <a:solidFill>
                  <a:schemeClr val="tx1"/>
                </a:solidFill>
              </a:rPr>
              <a:t>ConsoleUI</a:t>
            </a:r>
            <a:endParaRPr lang="en-US" sz="1600" dirty="0"/>
          </a:p>
          <a:p>
            <a:pPr indent="0" marL="0">
              <a:buNone/>
            </a:pPr>
            <a:r>
              <a:rPr lang="en-US" sz="1300" dirty="0">
                <a:solidFill>
                  <a:srgbClr val="6F6B98"/>
                </a:solidFill>
              </a:rPr>
              <a:t>Your original menu still works. It calls the same AirlineSystem and reads the same database, so both apps always agree.</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The four OOP pillars, each with a real job</a:t>
            </a:r>
            <a:endParaRPr lang="en-US" sz="3400" dirty="0"/>
          </a:p>
        </p:txBody>
      </p:sp>
      <p:sp>
        <p:nvSpPr>
          <p:cNvPr id="3" name="pillar-card"/>
          <p:cNvSpPr/>
          <p:nvPr/>
        </p:nvSpPr>
        <p:spPr>
          <a:xfrm>
            <a:off x="548640" y="1417320"/>
            <a:ext cx="5440680" cy="2240280"/>
          </a:xfrm>
          <a:prstGeom prst="roundRect">
            <a:avLst>
              <a:gd name="adj" fmla="val 7347"/>
            </a:avLst>
          </a:prstGeom>
          <a:solidFill>
            <a:schemeClr val="bg1"/>
          </a:solidFill>
          <a:ln w="12700">
            <a:solidFill>
              <a:srgbClr val="D6D8F3"/>
            </a:solidFill>
            <a:prstDash val="solid"/>
          </a:ln>
        </p:spPr>
      </p:sp>
      <p:sp>
        <p:nvSpPr>
          <p:cNvPr id="4" name="Text 2"/>
          <p:cNvSpPr txBox="1"/>
          <p:nvPr/>
        </p:nvSpPr>
        <p:spPr>
          <a:xfrm>
            <a:off x="822960" y="1600200"/>
            <a:ext cx="4937760" cy="384048"/>
          </a:xfrm>
          <a:prstGeom prst="rect">
            <a:avLst/>
          </a:prstGeom>
          <a:noFill/>
          <a:ln/>
        </p:spPr>
        <p:txBody>
          <a:bodyPr wrap="square" lIns="0" tIns="0" rIns="0" bIns="0" rtlCol="0" anchor="ctr"/>
          <a:lstStyle/>
          <a:p>
            <a:pPr indent="0" marL="0">
              <a:buNone/>
            </a:pPr>
            <a:r>
              <a:rPr lang="en-US" sz="1800" b="1" dirty="0">
                <a:solidFill>
                  <a:schemeClr val="accent1"/>
                </a:solidFill>
              </a:rPr>
              <a:t>Inheritance</a:t>
            </a:r>
            <a:endParaRPr lang="en-US" sz="1800" dirty="0"/>
          </a:p>
        </p:txBody>
      </p:sp>
      <p:sp>
        <p:nvSpPr>
          <p:cNvPr id="5" name="Text 3"/>
          <p:cNvSpPr txBox="1"/>
          <p:nvPr/>
        </p:nvSpPr>
        <p:spPr>
          <a:xfrm>
            <a:off x="822960" y="2011680"/>
            <a:ext cx="4937760" cy="640080"/>
          </a:xfrm>
          <a:prstGeom prst="rect">
            <a:avLst/>
          </a:prstGeom>
          <a:noFill/>
          <a:ln/>
        </p:spPr>
        <p:txBody>
          <a:bodyPr wrap="square" lIns="0" tIns="0" rIns="0" bIns="0" rtlCol="0" anchor="t"/>
          <a:lstStyle/>
          <a:p>
            <a:pPr indent="0" marL="0">
              <a:buNone/>
            </a:pPr>
            <a:r>
              <a:rPr lang="en-US" sz="1400" dirty="0">
                <a:solidFill>
                  <a:schemeClr val="tx1"/>
                </a:solidFill>
              </a:rPr>
              <a:t>One base error, many specific ones. The web layer maps each to the right HTTP code.</a:t>
            </a:r>
            <a:endParaRPr lang="en-US" sz="1400" dirty="0"/>
          </a:p>
        </p:txBody>
      </p:sp>
      <p:sp>
        <p:nvSpPr>
          <p:cNvPr id="6" name="code-bg"/>
          <p:cNvSpPr/>
          <p:nvPr/>
        </p:nvSpPr>
        <p:spPr>
          <a:xfrm>
            <a:off x="822960" y="2715768"/>
            <a:ext cx="4892040" cy="786384"/>
          </a:xfrm>
          <a:prstGeom prst="roundRect">
            <a:avLst>
              <a:gd name="adj" fmla="val 9302"/>
            </a:avLst>
          </a:prstGeom>
          <a:solidFill>
            <a:schemeClr val="tx1"/>
          </a:solidFill>
          <a:ln w="12700">
            <a:solidFill>
              <a:schemeClr val="tx1"/>
            </a:solidFill>
            <a:prstDash val="solid"/>
          </a:ln>
        </p:spPr>
      </p:sp>
      <p:sp>
        <p:nvSpPr>
          <p:cNvPr id="7" name="Text 5"/>
          <p:cNvSpPr txBox="1"/>
          <p:nvPr/>
        </p:nvSpPr>
        <p:spPr>
          <a:xfrm>
            <a:off x="960120" y="2715768"/>
            <a:ext cx="4663440" cy="786384"/>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class SeatOccupiedError(AirlineError):</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http_status = 409</a:t>
            </a:r>
            <a:endParaRPr lang="en-US" sz="1100" dirty="0"/>
          </a:p>
        </p:txBody>
      </p:sp>
      <p:sp>
        <p:nvSpPr>
          <p:cNvPr id="8" name="pillar-card"/>
          <p:cNvSpPr/>
          <p:nvPr/>
        </p:nvSpPr>
        <p:spPr>
          <a:xfrm>
            <a:off x="6172200" y="1417320"/>
            <a:ext cx="5440680" cy="2240280"/>
          </a:xfrm>
          <a:prstGeom prst="roundRect">
            <a:avLst>
              <a:gd name="adj" fmla="val 7347"/>
            </a:avLst>
          </a:prstGeom>
          <a:solidFill>
            <a:schemeClr val="bg1"/>
          </a:solidFill>
          <a:ln w="12700">
            <a:solidFill>
              <a:srgbClr val="D6D8F3"/>
            </a:solidFill>
            <a:prstDash val="solid"/>
          </a:ln>
        </p:spPr>
      </p:sp>
      <p:sp>
        <p:nvSpPr>
          <p:cNvPr id="9" name="Text 7"/>
          <p:cNvSpPr txBox="1"/>
          <p:nvPr/>
        </p:nvSpPr>
        <p:spPr>
          <a:xfrm>
            <a:off x="6446520" y="1600200"/>
            <a:ext cx="4937760" cy="384048"/>
          </a:xfrm>
          <a:prstGeom prst="rect">
            <a:avLst/>
          </a:prstGeom>
          <a:noFill/>
          <a:ln/>
        </p:spPr>
        <p:txBody>
          <a:bodyPr wrap="square" lIns="0" tIns="0" rIns="0" bIns="0" rtlCol="0" anchor="ctr"/>
          <a:lstStyle/>
          <a:p>
            <a:pPr indent="0" marL="0">
              <a:buNone/>
            </a:pPr>
            <a:r>
              <a:rPr lang="en-US" sz="1800" b="1" dirty="0">
                <a:solidFill>
                  <a:schemeClr val="accent1"/>
                </a:solidFill>
              </a:rPr>
              <a:t>Abstraction + polymorphism</a:t>
            </a:r>
            <a:endParaRPr lang="en-US" sz="1800" dirty="0"/>
          </a:p>
        </p:txBody>
      </p:sp>
      <p:sp>
        <p:nvSpPr>
          <p:cNvPr id="10" name="Text 8"/>
          <p:cNvSpPr txBox="1"/>
          <p:nvPr/>
        </p:nvSpPr>
        <p:spPr>
          <a:xfrm>
            <a:off x="6446520" y="2011680"/>
            <a:ext cx="4937760" cy="640080"/>
          </a:xfrm>
          <a:prstGeom prst="rect">
            <a:avLst/>
          </a:prstGeom>
          <a:noFill/>
          <a:ln/>
        </p:spPr>
        <p:txBody>
          <a:bodyPr wrap="square" lIns="0" tIns="0" rIns="0" bIns="0" rtlCol="0" anchor="t"/>
          <a:lstStyle/>
          <a:p>
            <a:pPr indent="0" marL="0">
              <a:buNone/>
            </a:pPr>
            <a:r>
              <a:rPr lang="en-US" sz="1400" dirty="0">
                <a:solidFill>
                  <a:schemeClr val="tx1"/>
                </a:solidFill>
              </a:rPr>
              <a:t>Swap storage, payments, email or forecasting without touching the callers.</a:t>
            </a:r>
            <a:endParaRPr lang="en-US" sz="1400" dirty="0"/>
          </a:p>
        </p:txBody>
      </p:sp>
      <p:sp>
        <p:nvSpPr>
          <p:cNvPr id="11" name="code-bg"/>
          <p:cNvSpPr/>
          <p:nvPr/>
        </p:nvSpPr>
        <p:spPr>
          <a:xfrm>
            <a:off x="6446520" y="2715768"/>
            <a:ext cx="4892040" cy="786384"/>
          </a:xfrm>
          <a:prstGeom prst="roundRect">
            <a:avLst>
              <a:gd name="adj" fmla="val 9302"/>
            </a:avLst>
          </a:prstGeom>
          <a:solidFill>
            <a:schemeClr val="tx1"/>
          </a:solidFill>
          <a:ln w="12700">
            <a:solidFill>
              <a:schemeClr val="tx1"/>
            </a:solidFill>
            <a:prstDash val="solid"/>
          </a:ln>
        </p:spPr>
      </p:sp>
      <p:sp>
        <p:nvSpPr>
          <p:cNvPr id="12" name="Text 10"/>
          <p:cNvSpPr txBox="1"/>
          <p:nvPr/>
        </p:nvSpPr>
        <p:spPr>
          <a:xfrm>
            <a:off x="6583680" y="2715768"/>
            <a:ext cx="4663440" cy="786384"/>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class SqliteStorage(StorageBackend): ...</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class JsonStorage(StorageBackend): ...</a:t>
            </a:r>
            <a:endParaRPr lang="en-US" sz="1100" dirty="0"/>
          </a:p>
        </p:txBody>
      </p:sp>
      <p:sp>
        <p:nvSpPr>
          <p:cNvPr id="13" name="pillar-card"/>
          <p:cNvSpPr/>
          <p:nvPr/>
        </p:nvSpPr>
        <p:spPr>
          <a:xfrm>
            <a:off x="548640" y="3813048"/>
            <a:ext cx="5440680" cy="2240280"/>
          </a:xfrm>
          <a:prstGeom prst="roundRect">
            <a:avLst>
              <a:gd name="adj" fmla="val 7347"/>
            </a:avLst>
          </a:prstGeom>
          <a:solidFill>
            <a:schemeClr val="bg1"/>
          </a:solidFill>
          <a:ln w="12700">
            <a:solidFill>
              <a:srgbClr val="D6D8F3"/>
            </a:solidFill>
            <a:prstDash val="solid"/>
          </a:ln>
        </p:spPr>
      </p:sp>
      <p:sp>
        <p:nvSpPr>
          <p:cNvPr id="14" name="Text 12"/>
          <p:cNvSpPr txBox="1"/>
          <p:nvPr/>
        </p:nvSpPr>
        <p:spPr>
          <a:xfrm>
            <a:off x="822960" y="3995928"/>
            <a:ext cx="4937760" cy="384048"/>
          </a:xfrm>
          <a:prstGeom prst="rect">
            <a:avLst/>
          </a:prstGeom>
          <a:noFill/>
          <a:ln/>
        </p:spPr>
        <p:txBody>
          <a:bodyPr wrap="square" lIns="0" tIns="0" rIns="0" bIns="0" rtlCol="0" anchor="ctr"/>
          <a:lstStyle/>
          <a:p>
            <a:pPr indent="0" marL="0">
              <a:buNone/>
            </a:pPr>
            <a:r>
              <a:rPr lang="en-US" sz="1800" b="1" dirty="0">
                <a:solidFill>
                  <a:schemeClr val="accent1"/>
                </a:solidFill>
              </a:rPr>
              <a:t>Encapsulation</a:t>
            </a:r>
            <a:endParaRPr lang="en-US" sz="1800" dirty="0"/>
          </a:p>
        </p:txBody>
      </p:sp>
      <p:sp>
        <p:nvSpPr>
          <p:cNvPr id="15" name="Text 13"/>
          <p:cNvSpPr txBox="1"/>
          <p:nvPr/>
        </p:nvSpPr>
        <p:spPr>
          <a:xfrm>
            <a:off x="822960" y="4407408"/>
            <a:ext cx="4937760" cy="640080"/>
          </a:xfrm>
          <a:prstGeom prst="rect">
            <a:avLst/>
          </a:prstGeom>
          <a:noFill/>
          <a:ln/>
        </p:spPr>
        <p:txBody>
          <a:bodyPr wrap="square" lIns="0" tIns="0" rIns="0" bIns="0" rtlCol="0" anchor="t"/>
          <a:lstStyle/>
          <a:p>
            <a:pPr indent="0" marL="0">
              <a:buNone/>
            </a:pPr>
            <a:r>
              <a:rPr lang="en-US" sz="1400" dirty="0">
                <a:solidFill>
                  <a:schemeClr val="tx1"/>
                </a:solidFill>
              </a:rPr>
              <a:t>A booking freezes its fare at purchase, so later price changes can't rewrite history.</a:t>
            </a:r>
            <a:endParaRPr lang="en-US" sz="1400" dirty="0"/>
          </a:p>
        </p:txBody>
      </p:sp>
      <p:sp>
        <p:nvSpPr>
          <p:cNvPr id="16" name="code-bg"/>
          <p:cNvSpPr/>
          <p:nvPr/>
        </p:nvSpPr>
        <p:spPr>
          <a:xfrm>
            <a:off x="822960" y="5111496"/>
            <a:ext cx="4892040" cy="786384"/>
          </a:xfrm>
          <a:prstGeom prst="roundRect">
            <a:avLst>
              <a:gd name="adj" fmla="val 9302"/>
            </a:avLst>
          </a:prstGeom>
          <a:solidFill>
            <a:schemeClr val="tx1"/>
          </a:solidFill>
          <a:ln w="12700">
            <a:solidFill>
              <a:schemeClr val="tx1"/>
            </a:solidFill>
            <a:prstDash val="solid"/>
          </a:ln>
        </p:spPr>
      </p:sp>
      <p:sp>
        <p:nvSpPr>
          <p:cNvPr id="17" name="Text 15"/>
          <p:cNvSpPr txBox="1"/>
          <p:nvPr/>
        </p:nvSpPr>
        <p:spPr>
          <a:xfrm>
            <a:off x="960120" y="5111496"/>
            <a:ext cx="4663440" cy="786384"/>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@property</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def total_cost(self):</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return self.ticket_price + self.insurance_cost</a:t>
            </a:r>
            <a:endParaRPr lang="en-US" sz="1100" dirty="0"/>
          </a:p>
        </p:txBody>
      </p:sp>
      <p:sp>
        <p:nvSpPr>
          <p:cNvPr id="18" name="pillar-card"/>
          <p:cNvSpPr/>
          <p:nvPr/>
        </p:nvSpPr>
        <p:spPr>
          <a:xfrm>
            <a:off x="6172200" y="3813048"/>
            <a:ext cx="5440680" cy="2240280"/>
          </a:xfrm>
          <a:prstGeom prst="roundRect">
            <a:avLst>
              <a:gd name="adj" fmla="val 7347"/>
            </a:avLst>
          </a:prstGeom>
          <a:solidFill>
            <a:schemeClr val="bg1"/>
          </a:solidFill>
          <a:ln w="12700">
            <a:solidFill>
              <a:srgbClr val="D6D8F3"/>
            </a:solidFill>
            <a:prstDash val="solid"/>
          </a:ln>
        </p:spPr>
      </p:sp>
      <p:sp>
        <p:nvSpPr>
          <p:cNvPr id="19" name="Text 17"/>
          <p:cNvSpPr txBox="1"/>
          <p:nvPr/>
        </p:nvSpPr>
        <p:spPr>
          <a:xfrm>
            <a:off x="6446520" y="3995928"/>
            <a:ext cx="4937760" cy="384048"/>
          </a:xfrm>
          <a:prstGeom prst="rect">
            <a:avLst/>
          </a:prstGeom>
          <a:noFill/>
          <a:ln/>
        </p:spPr>
        <p:txBody>
          <a:bodyPr wrap="square" lIns="0" tIns="0" rIns="0" bIns="0" rtlCol="0" anchor="ctr"/>
          <a:lstStyle/>
          <a:p>
            <a:pPr indent="0" marL="0">
              <a:buNone/>
            </a:pPr>
            <a:r>
              <a:rPr lang="en-US" sz="1800" b="1" dirty="0">
                <a:solidFill>
                  <a:schemeClr val="accent1"/>
                </a:solidFill>
              </a:rPr>
              <a:t>Composition + injection</a:t>
            </a:r>
            <a:endParaRPr lang="en-US" sz="1800" dirty="0"/>
          </a:p>
        </p:txBody>
      </p:sp>
      <p:sp>
        <p:nvSpPr>
          <p:cNvPr id="20" name="Text 18"/>
          <p:cNvSpPr txBox="1"/>
          <p:nvPr/>
        </p:nvSpPr>
        <p:spPr>
          <a:xfrm>
            <a:off x="6446520" y="4407408"/>
            <a:ext cx="4937760" cy="640080"/>
          </a:xfrm>
          <a:prstGeom prst="rect">
            <a:avLst/>
          </a:prstGeom>
          <a:noFill/>
          <a:ln/>
        </p:spPr>
        <p:txBody>
          <a:bodyPr wrap="square" lIns="0" tIns="0" rIns="0" bIns="0" rtlCol="0" anchor="t"/>
          <a:lstStyle/>
          <a:p>
            <a:pPr indent="0" marL="0">
              <a:buNone/>
            </a:pPr>
            <a:r>
              <a:rPr lang="en-US" sz="1400" dirty="0">
                <a:solidFill>
                  <a:schemeClr val="tx1"/>
                </a:solidFill>
              </a:rPr>
              <a:t>AirlineSystem is assembled from parts, which is why tests can run on an in-memory database.</a:t>
            </a:r>
            <a:endParaRPr lang="en-US" sz="1400" dirty="0"/>
          </a:p>
        </p:txBody>
      </p:sp>
      <p:sp>
        <p:nvSpPr>
          <p:cNvPr id="21" name="code-bg"/>
          <p:cNvSpPr/>
          <p:nvPr/>
        </p:nvSpPr>
        <p:spPr>
          <a:xfrm>
            <a:off x="6446520" y="5111496"/>
            <a:ext cx="4892040" cy="786384"/>
          </a:xfrm>
          <a:prstGeom prst="roundRect">
            <a:avLst>
              <a:gd name="adj" fmla="val 9302"/>
            </a:avLst>
          </a:prstGeom>
          <a:solidFill>
            <a:schemeClr val="tx1"/>
          </a:solidFill>
          <a:ln w="12700">
            <a:solidFill>
              <a:schemeClr val="tx1"/>
            </a:solidFill>
            <a:prstDash val="solid"/>
          </a:ln>
        </p:spPr>
      </p:sp>
      <p:sp>
        <p:nvSpPr>
          <p:cNvPr id="22" name="Text 20"/>
          <p:cNvSpPr txBox="1"/>
          <p:nvPr/>
        </p:nvSpPr>
        <p:spPr>
          <a:xfrm>
            <a:off x="6583680" y="5111496"/>
            <a:ext cx="4663440" cy="786384"/>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AirlineSystem(storage=SqliteStorage(":memory:"),</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payments=MockPaymentGateway())</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Fares respond to demand and to the calendar</a:t>
            </a:r>
            <a:endParaRPr lang="en-US" sz="3400" dirty="0"/>
          </a:p>
        </p:txBody>
      </p:sp>
      <p:sp>
        <p:nvSpPr>
          <p:cNvPr id="3" name="formula-card"/>
          <p:cNvSpPr/>
          <p:nvPr/>
        </p:nvSpPr>
        <p:spPr>
          <a:xfrm>
            <a:off x="548640" y="1417320"/>
            <a:ext cx="4480560" cy="4617720"/>
          </a:xfrm>
          <a:prstGeom prst="roundRect">
            <a:avLst>
              <a:gd name="adj" fmla="val 3673"/>
            </a:avLst>
          </a:prstGeom>
          <a:solidFill>
            <a:schemeClr val="bg1"/>
          </a:solidFill>
          <a:ln w="12700">
            <a:solidFill>
              <a:srgbClr val="D6D8F3"/>
            </a:solidFill>
            <a:prstDash val="solid"/>
          </a:ln>
        </p:spPr>
      </p:sp>
      <p:sp>
        <p:nvSpPr>
          <p:cNvPr id="4" name="Text 2"/>
          <p:cNvSpPr txBox="1"/>
          <p:nvPr/>
        </p:nvSpPr>
        <p:spPr>
          <a:xfrm>
            <a:off x="822960" y="1645920"/>
            <a:ext cx="3931920" cy="365760"/>
          </a:xfrm>
          <a:prstGeom prst="rect">
            <a:avLst/>
          </a:prstGeom>
          <a:noFill/>
          <a:ln/>
        </p:spPr>
        <p:txBody>
          <a:bodyPr wrap="square" lIns="0" tIns="0" rIns="0" bIns="0" rtlCol="0" anchor="ctr"/>
          <a:lstStyle/>
          <a:p>
            <a:pPr indent="0" marL="0">
              <a:buNone/>
            </a:pPr>
            <a:r>
              <a:rPr lang="en-US" sz="1800" b="1" dirty="0">
                <a:solidFill>
                  <a:schemeClr val="accent1"/>
                </a:solidFill>
              </a:rPr>
              <a:t>PricingEngine</a:t>
            </a:r>
            <a:endParaRPr lang="en-US" sz="1800" dirty="0"/>
          </a:p>
        </p:txBody>
      </p:sp>
      <p:sp>
        <p:nvSpPr>
          <p:cNvPr id="5" name="Text 3"/>
          <p:cNvSpPr txBox="1"/>
          <p:nvPr/>
        </p:nvSpPr>
        <p:spPr>
          <a:xfrm>
            <a:off x="822960" y="2148840"/>
            <a:ext cx="3977640" cy="11430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demand = 0.90 + 0.75 × LF²</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time   = 0.95 + 0.45 × e^(−days/5)</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fare   = list × demand × time</a:t>
            </a:r>
            <a:endParaRPr lang="en-US" sz="1300" dirty="0"/>
          </a:p>
        </p:txBody>
      </p:sp>
      <p:sp>
        <p:nvSpPr>
          <p:cNvPr id="6" name="Text 4"/>
          <p:cNvSpPr txBox="1"/>
          <p:nvPr/>
        </p:nvSpPr>
        <p:spPr>
          <a:xfrm>
            <a:off x="822960" y="3429000"/>
            <a:ext cx="3977640" cy="1051560"/>
          </a:xfrm>
          <a:prstGeom prst="rect">
            <a:avLst/>
          </a:prstGeom>
          <a:noFill/>
          <a:ln/>
        </p:spPr>
        <p:txBody>
          <a:bodyPr wrap="square" lIns="0" tIns="0" rIns="0" bIns="0" rtlCol="0" anchor="t"/>
          <a:lstStyle/>
          <a:p>
            <a:pPr indent="0" marL="0">
              <a:buNone/>
            </a:pPr>
            <a:r>
              <a:rPr lang="en-US" sz="1400" dirty="0">
                <a:solidFill>
                  <a:srgbClr val="6F6B98"/>
                </a:solidFill>
              </a:rPr>
              <a:t>LF is how full the cabin is. An empty cabin sells at 0.90× the list price and a full one at 1.65×. Prices climb steeply in the last week.</a:t>
            </a:r>
            <a:endParaRPr lang="en-US" sz="1400" dirty="0"/>
          </a:p>
        </p:txBody>
      </p:sp>
      <p:sp>
        <p:nvSpPr>
          <p:cNvPr id="7" name="Text 5"/>
          <p:cNvSpPr txBox="1"/>
          <p:nvPr/>
        </p:nvSpPr>
        <p:spPr>
          <a:xfrm>
            <a:off x="822960" y="4572000"/>
            <a:ext cx="3977640" cy="1188720"/>
          </a:xfrm>
          <a:prstGeom prst="rect">
            <a:avLst/>
          </a:prstGeom>
          <a:noFill/>
          <a:ln/>
        </p:spPr>
        <p:txBody>
          <a:bodyPr wrap="square" lIns="0" tIns="0" rIns="0" bIns="0" rtlCol="0" anchor="t"/>
          <a:lstStyle/>
          <a:p>
            <a:pPr indent="0" marL="0">
              <a:buNone/>
            </a:pPr>
            <a:r>
              <a:rPr lang="en-US" sz="1400" b="1" dirty="0">
                <a:solidFill>
                  <a:schemeClr val="tx1"/>
                </a:solidFill>
              </a:rPr>
              <a:t>FareAdvisor </a:t>
            </a:r>
            <a:pPr indent="0" marL="0">
              <a:buNone/>
            </a:pPr>
            <a:r>
              <a:rPr lang="en-US" sz="1400" dirty="0">
                <a:solidFill>
                  <a:srgbClr val="6F6B98"/>
                </a:solidFill>
              </a:rPr>
              <a:t>projects this curve forward from each flight's booking speed and tells travellers to book now or wait.</a:t>
            </a:r>
            <a:endParaRPr lang="en-US" sz="1400" dirty="0"/>
          </a:p>
        </p:txBody>
      </p:sp>
      <p:graphicFrame>
        <p:nvGraphicFramePr>
          <p:cNvPr id="8" name="fare-chart" descr=""/>
          <p:cNvGraphicFramePr/>
          <p:nvPr/>
        </p:nvGraphicFramePr>
        <p:xfrm>
          <a:off x="5303520" y="1417320"/>
          <a:ext cx="6309360" cy="39776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303520" y="5532120"/>
            <a:ext cx="6309360" cy="457200"/>
          </a:xfrm>
          <a:prstGeom prst="rect">
            <a:avLst/>
          </a:prstGeom>
          <a:noFill/>
          <a:ln/>
        </p:spPr>
        <p:txBody>
          <a:bodyPr wrap="square" lIns="0" tIns="0" rIns="0" bIns="0" rtlCol="0" anchor="ctr"/>
          <a:lstStyle/>
          <a:p>
            <a:pPr indent="0" marL="0">
              <a:buNone/>
            </a:pPr>
            <a:r>
              <a:rPr lang="en-US" sz="1500" b="1" dirty="0">
                <a:solidFill>
                  <a:schemeClr val="tx1"/>
                </a:solidFill>
              </a:rPr>
              <a:t>Booking a month ahead costs about 48% less than booking the day before.</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Models forecast demand and find customer types</a:t>
            </a:r>
            <a:endParaRPr lang="en-US" sz="3400" dirty="0"/>
          </a:p>
        </p:txBody>
      </p:sp>
      <p:graphicFrame>
        <p:nvGraphicFramePr>
          <p:cNvPr id="3" name="forecast-chart" descr=""/>
          <p:cNvGraphicFramePr/>
          <p:nvPr/>
        </p:nvGraphicFramePr>
        <p:xfrm>
          <a:off x="548640" y="141732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120640"/>
            <a:ext cx="6035040" cy="914400"/>
          </a:xfrm>
          <a:prstGeom prst="rect">
            <a:avLst/>
          </a:prstGeom>
          <a:noFill/>
          <a:ln/>
        </p:spPr>
        <p:txBody>
          <a:bodyPr wrap="square" lIns="0" tIns="0" rIns="0" bIns="0" rtlCol="0" anchor="t"/>
          <a:lstStyle/>
          <a:p>
            <a:pPr indent="0" marL="0">
              <a:buNone/>
            </a:pPr>
            <a:r>
              <a:rPr lang="en-US" sz="2600" b="1" dirty="0">
                <a:solidFill>
                  <a:schemeClr val="accent1"/>
                </a:solidFill>
              </a:rPr>
              <a:t>7.7% </a:t>
            </a:r>
            <a:pPr indent="0" marL="0">
              <a:buNone/>
            </a:pPr>
            <a:r>
              <a:rPr lang="en-US" sz="1300" dirty="0">
                <a:solidFill>
                  <a:srgbClr val="6F6B98"/>
                </a:solidFill>
              </a:rPr>
              <a:t>average error on the last 14 days, tested on data the model never saw. Method: linear trend + day-of-week effects (ridge least squares).</a:t>
            </a:r>
            <a:endParaRPr lang="en-US" sz="2600" dirty="0"/>
          </a:p>
        </p:txBody>
      </p:sp>
      <p:graphicFrame>
        <p:nvGraphicFramePr>
          <p:cNvPr id="5" name="segment-chart" descr=""/>
          <p:cNvGraphicFramePr/>
          <p:nvPr/>
        </p:nvGraphicFramePr>
        <p:xfrm>
          <a:off x="6903720" y="1417320"/>
          <a:ext cx="4709160" cy="35661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903720" y="5120640"/>
            <a:ext cx="4709160" cy="914400"/>
          </a:xfrm>
          <a:prstGeom prst="rect">
            <a:avLst/>
          </a:prstGeom>
          <a:noFill/>
          <a:ln/>
        </p:spPr>
        <p:txBody>
          <a:bodyPr wrap="square" lIns="0" tIns="0" rIns="0" bIns="0" rtlCol="0" anchor="t"/>
          <a:lstStyle/>
          <a:p>
            <a:pPr indent="0" marL="0">
              <a:buNone/>
            </a:pPr>
            <a:r>
              <a:rPr lang="en-US" sz="1300" b="1" dirty="0">
                <a:solidFill>
                  <a:schemeClr val="tx1"/>
                </a:solidFill>
              </a:rPr>
              <a:t>19% of passengers bring 59% of revenue. </a:t>
            </a:r>
            <a:pPr indent="0" marL="0">
              <a:buNone/>
            </a:pPr>
            <a:r>
              <a:rPr lang="en-US" sz="1300" dirty="0">
                <a:solidFill>
                  <a:srgbClr val="6F6B98"/>
                </a:solidFill>
              </a:rPr>
              <a:t>K-means written from scratch in NumPy (silhouette 0.505).</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Run it, ship it, and what it can't do yet</a:t>
            </a:r>
            <a:endParaRPr lang="en-US" sz="3400" dirty="0"/>
          </a:p>
        </p:txBody>
      </p:sp>
      <p:sp>
        <p:nvSpPr>
          <p:cNvPr id="3" name="step-card"/>
          <p:cNvSpPr/>
          <p:nvPr/>
        </p:nvSpPr>
        <p:spPr>
          <a:xfrm>
            <a:off x="548640" y="1554480"/>
            <a:ext cx="3566160" cy="4206240"/>
          </a:xfrm>
          <a:prstGeom prst="roundRect">
            <a:avLst>
              <a:gd name="adj" fmla="val 4615"/>
            </a:avLst>
          </a:prstGeom>
          <a:solidFill>
            <a:schemeClr val="tx2"/>
          </a:solidFill>
          <a:ln w="12700">
            <a:solidFill>
              <a:schemeClr val="tx2"/>
            </a:solidFill>
            <a:prstDash val="solid"/>
          </a:ln>
        </p:spPr>
      </p:sp>
      <p:sp>
        <p:nvSpPr>
          <p:cNvPr id="4" name="icon-circle"/>
          <p:cNvSpPr/>
          <p:nvPr/>
        </p:nvSpPr>
        <p:spPr>
          <a:xfrm>
            <a:off x="822960" y="1810512"/>
            <a:ext cx="566928" cy="566928"/>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959023" y="1946575"/>
            <a:ext cx="294803" cy="294803"/>
          </a:xfrm>
          <a:prstGeom prst="rect">
            <a:avLst/>
          </a:prstGeom>
        </p:spPr>
      </p:pic>
      <p:sp>
        <p:nvSpPr>
          <p:cNvPr id="6" name="Text 3"/>
          <p:cNvSpPr txBox="1"/>
          <p:nvPr/>
        </p:nvSpPr>
        <p:spPr>
          <a:xfrm>
            <a:off x="822960" y="2542032"/>
            <a:ext cx="3017520" cy="411480"/>
          </a:xfrm>
          <a:prstGeom prst="rect">
            <a:avLst/>
          </a:prstGeom>
          <a:noFill/>
          <a:ln/>
        </p:spPr>
        <p:txBody>
          <a:bodyPr wrap="square" lIns="0" tIns="0" rIns="0" bIns="0" rtlCol="0" anchor="ctr"/>
          <a:lstStyle/>
          <a:p>
            <a:pPr indent="0" marL="0">
              <a:buNone/>
            </a:pPr>
            <a:r>
              <a:rPr lang="en-US" sz="1900" b="1" dirty="0">
                <a:solidFill>
                  <a:schemeClr val="bg1"/>
                </a:solidFill>
              </a:rPr>
              <a:t>Run locally</a:t>
            </a:r>
            <a:endParaRPr lang="en-US" sz="1900" dirty="0"/>
          </a:p>
        </p:txBody>
      </p:sp>
      <p:sp>
        <p:nvSpPr>
          <p:cNvPr id="7" name="Text 4"/>
          <p:cNvSpPr txBox="1"/>
          <p:nvPr/>
        </p:nvSpPr>
        <p:spPr>
          <a:xfrm>
            <a:off x="822960" y="306324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C3BFF0"/>
                </a:solidFill>
                <a:latin typeface="Courier New" pitchFamily="34" charset="0"/>
                <a:ea typeface="Courier New" pitchFamily="34" charset="-122"/>
                <a:cs typeface="Courier New" pitchFamily="34" charset="-120"/>
              </a:rPr>
              <a:t>python -m venv .venv</a:t>
            </a:r>
            <a:endParaRPr lang="en-US" sz="1300" dirty="0"/>
          </a:p>
          <a:p>
            <a:pPr marL="342900" indent="-342900">
              <a:spcAft>
                <a:spcPts val="600"/>
              </a:spcAft>
              <a:buSzPct val="100000"/>
              <a:buChar char="•"/>
            </a:pPr>
            <a:r>
              <a:rPr lang="en-US" sz="1300" dirty="0">
                <a:solidFill>
                  <a:srgbClr val="C3BFF0"/>
                </a:solidFill>
                <a:latin typeface="Courier New" pitchFamily="34" charset="0"/>
                <a:ea typeface="Courier New" pitchFamily="34" charset="-122"/>
                <a:cs typeface="Courier New" pitchFamily="34" charset="-120"/>
              </a:rPr>
              <a:t>activate .venv</a:t>
            </a:r>
            <a:endParaRPr lang="en-US" sz="1300" dirty="0"/>
          </a:p>
          <a:p>
            <a:pPr marL="342900" indent="-342900">
              <a:spcAft>
                <a:spcPts val="600"/>
              </a:spcAft>
              <a:buSzPct val="100000"/>
              <a:buChar char="•"/>
            </a:pPr>
            <a:r>
              <a:rPr lang="en-US" sz="1300" dirty="0">
                <a:solidFill>
                  <a:srgbClr val="C3BFF0"/>
                </a:solidFill>
                <a:latin typeface="Courier New" pitchFamily="34" charset="0"/>
                <a:ea typeface="Courier New" pitchFamily="34" charset="-122"/>
                <a:cs typeface="Courier New" pitchFamily="34" charset="-120"/>
              </a:rPr>
              <a:t>pip install -r requirements.txt</a:t>
            </a:r>
            <a:endParaRPr lang="en-US" sz="1300" dirty="0"/>
          </a:p>
          <a:p>
            <a:pPr marL="342900" indent="-342900">
              <a:spcAft>
                <a:spcPts val="600"/>
              </a:spcAft>
              <a:buSzPct val="100000"/>
              <a:buChar char="•"/>
            </a:pPr>
            <a:r>
              <a:rPr lang="en-US" sz="1300" dirty="0">
                <a:solidFill>
                  <a:srgbClr val="C3BFF0"/>
                </a:solidFill>
                <a:latin typeface="Courier New" pitchFamily="34" charset="0"/>
                <a:ea typeface="Courier New" pitchFamily="34" charset="-122"/>
                <a:cs typeface="Courier New" pitchFamily="34" charset="-120"/>
              </a:rPr>
              <a:t>python app.py → localhost:5000</a:t>
            </a:r>
            <a:endParaRPr lang="en-US" sz="1300" dirty="0"/>
          </a:p>
        </p:txBody>
      </p:sp>
      <p:sp>
        <p:nvSpPr>
          <p:cNvPr id="8" name="step-card"/>
          <p:cNvSpPr/>
          <p:nvPr/>
        </p:nvSpPr>
        <p:spPr>
          <a:xfrm>
            <a:off x="4297680" y="1554480"/>
            <a:ext cx="3566160" cy="4206240"/>
          </a:xfrm>
          <a:prstGeom prst="roundRect">
            <a:avLst>
              <a:gd name="adj" fmla="val 4615"/>
            </a:avLst>
          </a:prstGeom>
          <a:solidFill>
            <a:schemeClr val="tx2"/>
          </a:solidFill>
          <a:ln w="12700">
            <a:solidFill>
              <a:schemeClr val="tx2"/>
            </a:solidFill>
            <a:prstDash val="solid"/>
          </a:ln>
        </p:spPr>
      </p:sp>
      <p:sp>
        <p:nvSpPr>
          <p:cNvPr id="9" name="icon-circle"/>
          <p:cNvSpPr/>
          <p:nvPr/>
        </p:nvSpPr>
        <p:spPr>
          <a:xfrm>
            <a:off x="4572000" y="1810512"/>
            <a:ext cx="566928" cy="566928"/>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2"/>
          <a:stretch>
            <a:fillRect/>
          </a:stretch>
        </p:blipFill>
        <p:spPr>
          <a:xfrm>
            <a:off x="4708063" y="1946575"/>
            <a:ext cx="294803" cy="294803"/>
          </a:xfrm>
          <a:prstGeom prst="rect">
            <a:avLst/>
          </a:prstGeom>
        </p:spPr>
      </p:pic>
      <p:sp>
        <p:nvSpPr>
          <p:cNvPr id="11" name="Text 7"/>
          <p:cNvSpPr txBox="1"/>
          <p:nvPr/>
        </p:nvSpPr>
        <p:spPr>
          <a:xfrm>
            <a:off x="4572000" y="2542032"/>
            <a:ext cx="3017520" cy="411480"/>
          </a:xfrm>
          <a:prstGeom prst="rect">
            <a:avLst/>
          </a:prstGeom>
          <a:noFill/>
          <a:ln/>
        </p:spPr>
        <p:txBody>
          <a:bodyPr wrap="square" lIns="0" tIns="0" rIns="0" bIns="0" rtlCol="0" anchor="ctr"/>
          <a:lstStyle/>
          <a:p>
            <a:pPr indent="0" marL="0">
              <a:buNone/>
            </a:pPr>
            <a:r>
              <a:rPr lang="en-US" sz="1900" b="1" dirty="0">
                <a:solidFill>
                  <a:schemeClr val="bg1"/>
                </a:solidFill>
              </a:rPr>
              <a:t>Put it online</a:t>
            </a:r>
            <a:endParaRPr lang="en-US" sz="1900" dirty="0"/>
          </a:p>
        </p:txBody>
      </p:sp>
      <p:sp>
        <p:nvSpPr>
          <p:cNvPr id="12" name="Text 8"/>
          <p:cNvSpPr txBox="1"/>
          <p:nvPr/>
        </p:nvSpPr>
        <p:spPr>
          <a:xfrm>
            <a:off x="4572000" y="306324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3BFF0"/>
                </a:solidFill>
              </a:rPr>
              <a:t>Push to GitHub (VS Code: Publish)</a:t>
            </a:r>
            <a:endParaRPr lang="en-US" sz="1400" dirty="0"/>
          </a:p>
          <a:p>
            <a:pPr marL="342900" indent="-342900">
              <a:spcAft>
                <a:spcPts val="600"/>
              </a:spcAft>
              <a:buSzPct val="100000"/>
              <a:buChar char="•"/>
            </a:pPr>
            <a:r>
              <a:rPr lang="en-US" sz="1400" dirty="0">
                <a:solidFill>
                  <a:srgbClr val="C3BFF0"/>
                </a:solidFill>
              </a:rPr>
              <a:t>Free demo: PythonAnywhere</a:t>
            </a:r>
            <a:endParaRPr lang="en-US" sz="1400" dirty="0"/>
          </a:p>
          <a:p>
            <a:pPr marL="342900" indent="-342900">
              <a:spcAft>
                <a:spcPts val="600"/>
              </a:spcAft>
              <a:buSzPct val="100000"/>
              <a:buChar char="•"/>
            </a:pPr>
            <a:r>
              <a:rPr lang="en-US" sz="1400" dirty="0">
                <a:solidFill>
                  <a:srgbClr val="C3BFF0"/>
                </a:solidFill>
              </a:rPr>
              <a:t>Always on: Render, $7/mo + disk</a:t>
            </a:r>
            <a:endParaRPr lang="en-US" sz="1400" dirty="0"/>
          </a:p>
          <a:p>
            <a:pPr marL="342900" indent="-342900">
              <a:spcAft>
                <a:spcPts val="600"/>
              </a:spcAft>
              <a:buSzPct val="100000"/>
              <a:buChar char="•"/>
            </a:pPr>
            <a:r>
              <a:rPr lang="en-US" sz="1400" dirty="0">
                <a:solidFill>
                  <a:srgbClr val="C3BFF0"/>
                </a:solidFill>
              </a:rPr>
              <a:t>Anywhere: the Dockerfile</a:t>
            </a:r>
            <a:endParaRPr lang="en-US" sz="1400" dirty="0"/>
          </a:p>
        </p:txBody>
      </p:sp>
      <p:sp>
        <p:nvSpPr>
          <p:cNvPr id="13" name="step-card"/>
          <p:cNvSpPr/>
          <p:nvPr/>
        </p:nvSpPr>
        <p:spPr>
          <a:xfrm>
            <a:off x="8046720" y="1554480"/>
            <a:ext cx="3566160" cy="4206240"/>
          </a:xfrm>
          <a:prstGeom prst="roundRect">
            <a:avLst>
              <a:gd name="adj" fmla="val 4615"/>
            </a:avLst>
          </a:prstGeom>
          <a:solidFill>
            <a:schemeClr val="tx2"/>
          </a:solidFill>
          <a:ln w="12700">
            <a:solidFill>
              <a:schemeClr val="tx2"/>
            </a:solidFill>
            <a:prstDash val="solid"/>
          </a:ln>
        </p:spPr>
      </p:sp>
      <p:sp>
        <p:nvSpPr>
          <p:cNvPr id="14" name="icon-circle"/>
          <p:cNvSpPr/>
          <p:nvPr/>
        </p:nvSpPr>
        <p:spPr>
          <a:xfrm>
            <a:off x="8321040" y="1810512"/>
            <a:ext cx="566928" cy="566928"/>
          </a:xfrm>
          <a:prstGeom prst="ellipse">
            <a:avLst/>
          </a:prstGeom>
          <a:solidFill>
            <a:schemeClr val="accent2"/>
          </a:solidFill>
          <a:ln w="12700">
            <a:solidFill>
              <a:schemeClr val="accent2"/>
            </a:solidFill>
            <a:prstDash val="solid"/>
          </a:ln>
        </p:spPr>
      </p:sp>
      <p:pic>
        <p:nvPicPr>
          <p:cNvPr id="15" name="icon" descr="preencoded.png">    </p:cNvPr>
          <p:cNvPicPr>
            <a:picLocks noChangeAspect="1"/>
          </p:cNvPicPr>
          <p:nvPr/>
        </p:nvPicPr>
        <p:blipFill>
          <a:blip r:embed="rId3"/>
          <a:stretch>
            <a:fillRect/>
          </a:stretch>
        </p:blipFill>
        <p:spPr>
          <a:xfrm>
            <a:off x="8457103" y="1946575"/>
            <a:ext cx="294803" cy="294803"/>
          </a:xfrm>
          <a:prstGeom prst="rect">
            <a:avLst/>
          </a:prstGeom>
        </p:spPr>
      </p:pic>
      <p:sp>
        <p:nvSpPr>
          <p:cNvPr id="16" name="Text 11"/>
          <p:cNvSpPr txBox="1"/>
          <p:nvPr/>
        </p:nvSpPr>
        <p:spPr>
          <a:xfrm>
            <a:off x="8321040" y="2542032"/>
            <a:ext cx="3017520" cy="411480"/>
          </a:xfrm>
          <a:prstGeom prst="rect">
            <a:avLst/>
          </a:prstGeom>
          <a:noFill/>
          <a:ln/>
        </p:spPr>
        <p:txBody>
          <a:bodyPr wrap="square" lIns="0" tIns="0" rIns="0" bIns="0" rtlCol="0" anchor="ctr"/>
          <a:lstStyle/>
          <a:p>
            <a:pPr indent="0" marL="0">
              <a:buNone/>
            </a:pPr>
            <a:r>
              <a:rPr lang="en-US" sz="1900" b="1" dirty="0">
                <a:solidFill>
                  <a:schemeClr val="bg1"/>
                </a:solidFill>
              </a:rPr>
              <a:t>Known limitations</a:t>
            </a:r>
            <a:endParaRPr lang="en-US" sz="1900" dirty="0"/>
          </a:p>
        </p:txBody>
      </p:sp>
      <p:sp>
        <p:nvSpPr>
          <p:cNvPr id="17" name="Text 12"/>
          <p:cNvSpPr txBox="1"/>
          <p:nvPr/>
        </p:nvSpPr>
        <p:spPr>
          <a:xfrm>
            <a:off x="8321040" y="306324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3BFF0"/>
                </a:solidFill>
              </a:rPr>
              <a:t>Payments are test mode only</a:t>
            </a:r>
            <a:endParaRPr lang="en-US" sz="1400" dirty="0"/>
          </a:p>
          <a:p>
            <a:pPr marL="342900" indent="-342900">
              <a:spcAft>
                <a:spcPts val="600"/>
              </a:spcAft>
              <a:buSzPct val="100000"/>
              <a:buChar char="•"/>
            </a:pPr>
            <a:r>
              <a:rPr lang="en-US" sz="1400" dirty="0">
                <a:solidFill>
                  <a:srgbClr val="C3BFF0"/>
                </a:solidFill>
              </a:rPr>
              <a:t>Airlines and data are fictional</a:t>
            </a:r>
            <a:endParaRPr lang="en-US" sz="1400" dirty="0"/>
          </a:p>
          <a:p>
            <a:pPr marL="342900" indent="-342900">
              <a:spcAft>
                <a:spcPts val="600"/>
              </a:spcAft>
              <a:buSzPct val="100000"/>
              <a:buChar char="•"/>
            </a:pPr>
            <a:r>
              <a:rPr lang="en-US" sz="1400" dirty="0">
                <a:solidFill>
                  <a:srgbClr val="C3BFF0"/>
                </a:solidFill>
              </a:rPr>
              <a:t>One server, SQLite database</a:t>
            </a:r>
            <a:endParaRPr lang="en-US" sz="1400" dirty="0"/>
          </a:p>
          <a:p>
            <a:pPr marL="342900" indent="-342900">
              <a:spcAft>
                <a:spcPts val="600"/>
              </a:spcAft>
              <a:buSzPct val="100000"/>
              <a:buChar char="•"/>
            </a:pPr>
            <a:r>
              <a:rPr lang="en-US" sz="1400" dirty="0">
                <a:solidFill>
                  <a:srgbClr val="C3BFF0"/>
                </a:solidFill>
              </a:rPr>
              <a:t>Emails need a mail server</a:t>
            </a:r>
            <a:endParaRPr lang="en-US" sz="1400" dirty="0"/>
          </a:p>
          <a:p>
            <a:pPr marL="342900" indent="-342900">
              <a:spcAft>
                <a:spcPts val="600"/>
              </a:spcAft>
              <a:buSzPct val="100000"/>
              <a:buChar char="•"/>
            </a:pPr>
            <a:r>
              <a:rPr lang="en-US" sz="1400" dirty="0">
                <a:solidFill>
                  <a:srgbClr val="C3BFF0"/>
                </a:solidFill>
              </a:rPr>
              <a:t>No password reset yet</a:t>
            </a:r>
            <a:endParaRPr lang="en-US" sz="1400" dirty="0"/>
          </a:p>
          <a:p>
            <a:pPr marL="342900" indent="-342900">
              <a:spcAft>
                <a:spcPts val="600"/>
              </a:spcAft>
              <a:buSzPct val="100000"/>
              <a:buChar char="•"/>
            </a:pPr>
            <a:r>
              <a:rPr lang="en-US" sz="1400" dirty="0">
                <a:solidFill>
                  <a:srgbClr val="C3BFF0"/>
                </a:solidFill>
              </a:rPr>
              <a:t>One passenger per booking</a:t>
            </a:r>
            <a:endParaRPr lang="en-US" sz="1400" dirty="0"/>
          </a:p>
        </p:txBody>
      </p:sp>
      <p:sp>
        <p:nvSpPr>
          <p:cNvPr id="18" name="Text 13"/>
          <p:cNvSpPr txBox="1"/>
          <p:nvPr/>
        </p:nvSpPr>
        <p:spPr>
          <a:xfrm>
            <a:off x="548640" y="5943600"/>
            <a:ext cx="8229600" cy="320040"/>
          </a:xfrm>
          <a:prstGeom prst="rect">
            <a:avLst/>
          </a:prstGeom>
          <a:noFill/>
          <a:ln/>
        </p:spPr>
        <p:txBody>
          <a:bodyPr wrap="square" lIns="0" tIns="0" rIns="0" bIns="0" rtlCol="0" anchor="ctr"/>
          <a:lstStyle/>
          <a:p>
            <a:pPr indent="0" marL="0">
              <a:buNone/>
            </a:pPr>
            <a:r>
              <a:rPr lang="en-US" sz="1200" dirty="0">
                <a:solidFill>
                  <a:srgbClr val="C3BFF0"/>
                </a:solidFill>
              </a:rPr>
              <a:t>Full steps and the complete limitations list: docs/RUNNING.md and docs/DEPLOYMENT.md.</a:t>
            </a:r>
            <a:endParaRPr lang="en-US" sz="1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Flyte">
  <a:themeElements>
    <a:clrScheme name="Flyte">
      <a:dk1>
        <a:srgbClr val="16133A"/>
      </a:dk1>
      <a:lt1>
        <a:srgbClr val="FFFFFF"/>
      </a:lt1>
      <a:dk2>
        <a:srgbClr val="2B2470"/>
      </a:dk2>
      <a:lt2>
        <a:srgbClr val="EEF0FF"/>
      </a:lt2>
      <a:accent1>
        <a:srgbClr val="5B3DF5"/>
      </a:accent1>
      <a:accent2>
        <a:srgbClr val="FFC83D"/>
      </a:accent2>
      <a:accent3>
        <a:srgbClr val="E8326A"/>
      </a:accent3>
      <a:accent4>
        <a:srgbClr val="0F9F73"/>
      </a:accent4>
      <a:accent5>
        <a:srgbClr val="2A78D6"/>
      </a:accent5>
      <a:accent6>
        <a:srgbClr val="EB6834"/>
      </a:accent6>
      <a:hlink>
        <a:srgbClr val="5B3DF5"/>
      </a:hlink>
      <a:folHlink>
        <a:srgbClr val="2B2470"/>
      </a:folHlink>
    </a:clrScheme>
    <a:fontScheme name="Fly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Flyte: airline booking and analytics web app</dc:title>
  <dc:subject>PptxGenJS Presentation</dc:subject>
  <dc:creator>Flyte project</dc:creator>
  <cp:lastModifiedBy>Flyte project</cp:lastModifiedBy>
  <cp:revision>1</cp:revision>
  <dcterms:created xsi:type="dcterms:W3CDTF">2026-10-15T11:28:00Z</dcterms:created>
  <dcterms:modified xsi:type="dcterms:W3CDTF">2026-10-15T11:28:00Z</dcterms:modified>
</cp:coreProperties>
</file>